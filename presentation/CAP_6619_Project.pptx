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81"/>
  </p:normalViewPr>
  <p:slideViewPr>
    <p:cSldViewPr>
      <p:cViewPr varScale="1">
        <p:scale>
          <a:sx n="400" d="100"/>
          <a:sy n="400" d="100"/>
        </p:scale>
        <p:origin x="1960" y="7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43" y="600303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0" y="82384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0C26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8544" y="663561"/>
            <a:ext cx="5584825" cy="674370"/>
          </a:xfrm>
          <a:custGeom>
            <a:avLst/>
            <a:gdLst/>
            <a:ahLst/>
            <a:cxnLst/>
            <a:rect l="l" t="t" r="r" b="b"/>
            <a:pathLst>
              <a:path w="5584825" h="674369">
                <a:moveTo>
                  <a:pt x="5584580" y="0"/>
                </a:moveTo>
                <a:lnTo>
                  <a:pt x="0" y="0"/>
                </a:lnTo>
                <a:lnTo>
                  <a:pt x="0" y="674283"/>
                </a:lnTo>
                <a:lnTo>
                  <a:pt x="5584580" y="674283"/>
                </a:lnTo>
                <a:lnTo>
                  <a:pt x="558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7743" y="644724"/>
            <a:ext cx="5584825" cy="642620"/>
          </a:xfrm>
          <a:custGeom>
            <a:avLst/>
            <a:gdLst/>
            <a:ahLst/>
            <a:cxnLst/>
            <a:rect l="l" t="t" r="r" b="b"/>
            <a:pathLst>
              <a:path w="5584825" h="642619">
                <a:moveTo>
                  <a:pt x="5584580" y="0"/>
                </a:moveTo>
                <a:lnTo>
                  <a:pt x="0" y="0"/>
                </a:lnTo>
                <a:lnTo>
                  <a:pt x="0" y="591519"/>
                </a:lnTo>
                <a:lnTo>
                  <a:pt x="4008" y="611243"/>
                </a:lnTo>
                <a:lnTo>
                  <a:pt x="14922" y="627396"/>
                </a:lnTo>
                <a:lnTo>
                  <a:pt x="31075" y="638310"/>
                </a:lnTo>
                <a:lnTo>
                  <a:pt x="50800" y="642319"/>
                </a:lnTo>
                <a:lnTo>
                  <a:pt x="5533779" y="642319"/>
                </a:lnTo>
                <a:lnTo>
                  <a:pt x="5553504" y="638310"/>
                </a:lnTo>
                <a:lnTo>
                  <a:pt x="5569657" y="627396"/>
                </a:lnTo>
                <a:lnTo>
                  <a:pt x="5580571" y="611243"/>
                </a:lnTo>
                <a:lnTo>
                  <a:pt x="5584580" y="591519"/>
                </a:lnTo>
                <a:lnTo>
                  <a:pt x="5584580" y="0"/>
                </a:lnTo>
                <a:close/>
              </a:path>
            </a:pathLst>
          </a:custGeom>
          <a:solidFill>
            <a:srgbClr val="0C26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89890"/>
          </a:xfrm>
          <a:custGeom>
            <a:avLst/>
            <a:gdLst/>
            <a:ahLst/>
            <a:cxnLst/>
            <a:rect l="l" t="t" r="r" b="b"/>
            <a:pathLst>
              <a:path w="5760085" h="389890">
                <a:moveTo>
                  <a:pt x="5759996" y="0"/>
                </a:moveTo>
                <a:lnTo>
                  <a:pt x="0" y="0"/>
                </a:lnTo>
                <a:lnTo>
                  <a:pt x="0" y="389623"/>
                </a:lnTo>
                <a:lnTo>
                  <a:pt x="5759996" y="389623"/>
                </a:lnTo>
                <a:lnTo>
                  <a:pt x="5759996" y="0"/>
                </a:lnTo>
                <a:close/>
              </a:path>
            </a:pathLst>
          </a:custGeom>
          <a:solidFill>
            <a:srgbClr val="0C26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904"/>
            <a:ext cx="452056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1048916"/>
            <a:ext cx="5409565" cy="1151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089" y="3125241"/>
            <a:ext cx="2543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bx2C30r8Bm4BuFnv6Ugh0vlni72YpwoI" TargetMode="External"/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" TargetMode="External"/><Relationship Id="rId4" Type="http://schemas.openxmlformats.org/officeDocument/2006/relationships/slide" Target="slide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olab.research.google.com/drive/1bx2C30r8Bm4BuFnv6Ugh0vlni72YpwoI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mwinemiller/cap-6619-project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L-Bioinfo-CEITEC/genomic_benchmark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4" y="663561"/>
            <a:ext cx="5584825" cy="6743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Genomic 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Sequence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Benchmarking</a:t>
            </a:r>
            <a:endParaRPr sz="1400">
              <a:latin typeface="Tahoma"/>
              <a:cs typeface="Tahoma"/>
            </a:endParaRPr>
          </a:p>
          <a:p>
            <a:pPr marR="95250" algn="ctr">
              <a:lnSpc>
                <a:spcPct val="100000"/>
              </a:lnSpc>
              <a:spcBef>
                <a:spcPts val="325"/>
              </a:spcBef>
            </a:pP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Implementing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CNNs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Focus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Reproducibility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2767" y="1483789"/>
            <a:ext cx="2651125" cy="938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3495" algn="ctr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latin typeface="Tahoma"/>
                <a:cs typeface="Tahoma"/>
              </a:rPr>
              <a:t>Jordan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Winemiller</a:t>
            </a:r>
            <a:endParaRPr sz="1400">
              <a:latin typeface="Tahoma"/>
              <a:cs typeface="Tahoma"/>
            </a:endParaRPr>
          </a:p>
          <a:p>
            <a:pPr marL="12700" marR="5080" algn="ctr">
              <a:lnSpc>
                <a:spcPts val="950"/>
              </a:lnSpc>
              <a:spcBef>
                <a:spcPts val="1205"/>
              </a:spcBef>
            </a:pPr>
            <a:r>
              <a:rPr sz="800" dirty="0">
                <a:latin typeface="Tahoma"/>
                <a:cs typeface="Tahoma"/>
              </a:rPr>
              <a:t>Department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Electrical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Engineering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100" dirty="0">
                <a:latin typeface="Tahoma"/>
                <a:cs typeface="Tahoma"/>
              </a:rPr>
              <a:t>&amp;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Computer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Science </a:t>
            </a:r>
            <a:r>
              <a:rPr sz="800" dirty="0">
                <a:latin typeface="Tahoma"/>
                <a:cs typeface="Tahoma"/>
              </a:rPr>
              <a:t>Florida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Atlanta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Univeristy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800">
              <a:latin typeface="Tahoma"/>
              <a:cs typeface="Tahoma"/>
            </a:endParaRPr>
          </a:p>
          <a:p>
            <a:pPr marR="27940" algn="ctr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latin typeface="Tahoma"/>
                <a:cs typeface="Tahoma"/>
              </a:rPr>
              <a:t>February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9,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2026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26164"/>
            <a:ext cx="5504815" cy="93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As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deep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learning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becomes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increasingly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prevalent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genomics,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maintaining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reproducibility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model </a:t>
            </a:r>
            <a:r>
              <a:rPr sz="1000" spc="-45" dirty="0">
                <a:latin typeface="Tahoma"/>
                <a:cs typeface="Tahoma"/>
              </a:rPr>
              <a:t>development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spc="-30" dirty="0">
                <a:latin typeface="Tahoma"/>
                <a:cs typeface="Tahoma"/>
              </a:rPr>
              <a:t>evaluation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essential.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In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biosciences,</a:t>
            </a:r>
            <a:r>
              <a:rPr sz="1000" spc="-25" dirty="0">
                <a:latin typeface="Tahoma"/>
                <a:cs typeface="Tahoma"/>
              </a:rPr>
              <a:t> particularly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large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genomic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sequence </a:t>
            </a:r>
            <a:r>
              <a:rPr sz="1000" spc="-35" dirty="0">
                <a:latin typeface="Tahoma"/>
                <a:cs typeface="Tahoma"/>
              </a:rPr>
              <a:t>datasets,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benchmarking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become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valuable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tool</a:t>
            </a:r>
            <a:r>
              <a:rPr sz="1000" spc="-10" dirty="0">
                <a:latin typeface="Tahoma"/>
                <a:cs typeface="Tahoma"/>
              </a:rPr>
              <a:t> for </a:t>
            </a:r>
            <a:r>
              <a:rPr sz="1000" spc="-35" dirty="0">
                <a:latin typeface="Tahoma"/>
                <a:cs typeface="Tahoma"/>
              </a:rPr>
              <a:t>enabling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repeatable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sequence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classification </a:t>
            </a:r>
            <a:r>
              <a:rPr sz="1000" spc="-40" dirty="0">
                <a:latin typeface="Tahoma"/>
                <a:cs typeface="Tahoma"/>
              </a:rPr>
              <a:t>experiments.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project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uses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publicly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available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genomic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sequence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benchmark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datasets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implement </a:t>
            </a:r>
            <a:r>
              <a:rPr sz="1000" spc="-25" dirty="0">
                <a:latin typeface="Tahoma"/>
                <a:cs typeface="Tahoma"/>
              </a:rPr>
              <a:t>convolutional </a:t>
            </a:r>
            <a:r>
              <a:rPr sz="1000" spc="-35" dirty="0">
                <a:latin typeface="Tahoma"/>
                <a:cs typeface="Tahoma"/>
              </a:rPr>
              <a:t>neural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networks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Arial"/>
                <a:cs typeface="Arial"/>
              </a:rPr>
              <a:t>(CNNs)</a:t>
            </a:r>
            <a:r>
              <a:rPr sz="1000" i="1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regulatory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element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classification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examine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practical </a:t>
            </a:r>
            <a:r>
              <a:rPr sz="1000" spc="-45" dirty="0">
                <a:latin typeface="Tahoma"/>
                <a:cs typeface="Tahoma"/>
              </a:rPr>
              <a:t>challenges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reproducing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published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workflows.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5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26164"/>
            <a:ext cx="5504815" cy="93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Genomic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sequence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classification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has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become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central</a:t>
            </a:r>
            <a:r>
              <a:rPr sz="1000" spc="-10" dirty="0">
                <a:latin typeface="Tahoma"/>
                <a:cs typeface="Tahoma"/>
              </a:rPr>
              <a:t> task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computational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biology,</a:t>
            </a:r>
            <a:r>
              <a:rPr sz="1000" spc="-10" dirty="0">
                <a:latin typeface="Tahoma"/>
                <a:cs typeface="Tahoma"/>
              </a:rPr>
              <a:t> enabling </a:t>
            </a:r>
            <a:r>
              <a:rPr sz="1000" spc="-55" dirty="0">
                <a:latin typeface="Tahoma"/>
                <a:cs typeface="Tahoma"/>
              </a:rPr>
              <a:t>researchers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characterize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functional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elements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regulatory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patterns</a:t>
            </a:r>
            <a:r>
              <a:rPr sz="1000" spc="-10" dirty="0">
                <a:latin typeface="Tahoma"/>
                <a:cs typeface="Tahoma"/>
              </a:rPr>
              <a:t> directly from </a:t>
            </a:r>
            <a:r>
              <a:rPr sz="1000" dirty="0">
                <a:latin typeface="Tahoma"/>
                <a:cs typeface="Tahoma"/>
              </a:rPr>
              <a:t>DNA.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Building </a:t>
            </a:r>
            <a:r>
              <a:rPr sz="1000" spc="-25" dirty="0">
                <a:latin typeface="Tahoma"/>
                <a:cs typeface="Tahoma"/>
              </a:rPr>
              <a:t>on </a:t>
            </a:r>
            <a:r>
              <a:rPr sz="1000" spc="-10" dirty="0">
                <a:latin typeface="Tahoma"/>
                <a:cs typeface="Tahoma"/>
              </a:rPr>
              <a:t>this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momentum,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 </a:t>
            </a:r>
            <a:r>
              <a:rPr sz="1000" spc="-45" dirty="0">
                <a:latin typeface="Tahoma"/>
                <a:cs typeface="Tahoma"/>
              </a:rPr>
              <a:t>work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presented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here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focuses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recreating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previously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proposed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benchmarks</a:t>
            </a:r>
            <a:r>
              <a:rPr sz="1000" spc="-20" dirty="0">
                <a:latin typeface="Tahoma"/>
                <a:cs typeface="Tahoma"/>
              </a:rPr>
              <a:t> from </a:t>
            </a:r>
            <a:r>
              <a:rPr sz="1000" spc="-35" dirty="0">
                <a:latin typeface="Tahoma"/>
                <a:cs typeface="Tahoma"/>
              </a:rPr>
              <a:t>Genomics Benchmarks: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Collection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5" dirty="0">
                <a:latin typeface="Tahoma"/>
                <a:cs typeface="Tahoma"/>
              </a:rPr>
              <a:t> Datasets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Genomic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Sequence</a:t>
            </a:r>
            <a:r>
              <a:rPr sz="1000" spc="-20" dirty="0">
                <a:latin typeface="Tahoma"/>
                <a:cs typeface="Tahoma"/>
              </a:rPr>
              <a:t> Classification </a:t>
            </a:r>
            <a:r>
              <a:rPr sz="1000" spc="-65" dirty="0">
                <a:latin typeface="Tahoma"/>
                <a:cs typeface="Tahoma"/>
                <a:hlinkClick r:id="rId2" action="ppaction://hlinksldjump"/>
              </a:rPr>
              <a:t>[2],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which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was </a:t>
            </a:r>
            <a:r>
              <a:rPr sz="1000" spc="-50" dirty="0">
                <a:latin typeface="Tahoma"/>
                <a:cs typeface="Tahoma"/>
              </a:rPr>
              <a:t>designed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lower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barrier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experimenting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genomic </a:t>
            </a:r>
            <a:r>
              <a:rPr sz="1000" dirty="0">
                <a:latin typeface="Tahoma"/>
                <a:cs typeface="Tahoma"/>
              </a:rPr>
              <a:t>data.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These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benchmarks</a:t>
            </a:r>
            <a:r>
              <a:rPr sz="1000" spc="-35" dirty="0">
                <a:latin typeface="Tahoma"/>
                <a:cs typeface="Tahoma"/>
              </a:rPr>
              <a:t> provide </a:t>
            </a:r>
            <a:r>
              <a:rPr sz="1000" spc="-50" dirty="0">
                <a:latin typeface="Tahoma"/>
                <a:cs typeface="Tahoma"/>
              </a:rPr>
              <a:t>a </a:t>
            </a:r>
            <a:r>
              <a:rPr sz="1000" spc="-30" dirty="0">
                <a:latin typeface="Tahoma"/>
                <a:cs typeface="Tahoma"/>
              </a:rPr>
              <a:t>structured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setting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evaluating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models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while </a:t>
            </a:r>
            <a:r>
              <a:rPr sz="1000" spc="-30" dirty="0">
                <a:latin typeface="Tahoma"/>
                <a:cs typeface="Tahoma"/>
              </a:rPr>
              <a:t>promoting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transparency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comparability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across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studies.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Target</a:t>
            </a:r>
            <a:r>
              <a:rPr spc="45" dirty="0"/>
              <a:t> </a:t>
            </a:r>
            <a:r>
              <a:rPr spc="-40" dirty="0"/>
              <a:t>Audience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91360"/>
            <a:ext cx="539242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work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intended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students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researchers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genomics,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biostatistics,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science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who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seek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practical,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reproducible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examples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applying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deep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25" dirty="0">
                <a:latin typeface="Tahoma"/>
                <a:cs typeface="Tahoma"/>
              </a:rPr>
              <a:t> to </a:t>
            </a:r>
            <a:r>
              <a:rPr sz="1100" spc="-40" dirty="0">
                <a:latin typeface="Tahoma"/>
                <a:cs typeface="Tahoma"/>
              </a:rPr>
              <a:t>standardized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benchmarks.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Background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7640"/>
            <a:ext cx="5449570" cy="19126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Motivated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background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biostatistics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science,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project aims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deepen </a:t>
            </a:r>
            <a:r>
              <a:rPr sz="1100" spc="-20" dirty="0">
                <a:latin typeface="Tahoma"/>
                <a:cs typeface="Tahoma"/>
              </a:rPr>
              <a:t>practical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experience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</a:t>
            </a:r>
            <a:r>
              <a:rPr sz="1100" spc="-35" dirty="0">
                <a:latin typeface="Tahoma"/>
                <a:cs typeface="Tahoma"/>
              </a:rPr>
              <a:t> datasets and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lay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foundation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future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collaborations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faculty </a:t>
            </a:r>
            <a:r>
              <a:rPr sz="1100" spc="-30" dirty="0">
                <a:latin typeface="Tahoma"/>
                <a:cs typeface="Tahoma"/>
              </a:rPr>
              <a:t>specializing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genomics.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Recent</a:t>
            </a:r>
            <a:r>
              <a:rPr sz="1100" spc="-25" dirty="0">
                <a:latin typeface="Tahoma"/>
                <a:cs typeface="Tahoma"/>
              </a:rPr>
              <a:t> literature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demonstrated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convolutional </a:t>
            </a:r>
            <a:r>
              <a:rPr sz="1100" spc="-35" dirty="0">
                <a:latin typeface="Tahoma"/>
                <a:cs typeface="Tahoma"/>
              </a:rPr>
              <a:t>neural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networks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deep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architectures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effectively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predictive </a:t>
            </a:r>
            <a:r>
              <a:rPr sz="1100" spc="-50" dirty="0">
                <a:latin typeface="Tahoma"/>
                <a:cs typeface="Tahoma"/>
              </a:rPr>
              <a:t>representations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sequences,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capturing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motifs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higher-order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patterns.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context,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present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work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implements </a:t>
            </a:r>
            <a:r>
              <a:rPr sz="1100" spc="-60" dirty="0">
                <a:latin typeface="Tahoma"/>
                <a:cs typeface="Tahoma"/>
              </a:rPr>
              <a:t>deep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established </a:t>
            </a:r>
            <a:r>
              <a:rPr sz="1100" spc="-45" dirty="0">
                <a:latin typeface="Tahoma"/>
                <a:cs typeface="Tahoma"/>
              </a:rPr>
              <a:t>benchmark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examines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practical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challenges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achieving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robust, </a:t>
            </a:r>
            <a:r>
              <a:rPr sz="1100" spc="-10" dirty="0">
                <a:latin typeface="Tahoma"/>
                <a:cs typeface="Tahoma"/>
              </a:rPr>
              <a:t>repeatable </a:t>
            </a:r>
            <a:r>
              <a:rPr sz="1100" spc="-25" dirty="0">
                <a:latin typeface="Tahoma"/>
                <a:cs typeface="Tahoma"/>
              </a:rPr>
              <a:t>results.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emphasizing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reproducibility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clear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experimental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design,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project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seeks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45" dirty="0">
                <a:latin typeface="Tahoma"/>
                <a:cs typeface="Tahoma"/>
              </a:rPr>
              <a:t>provide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reference</a:t>
            </a:r>
            <a:r>
              <a:rPr sz="1100" spc="-20" dirty="0">
                <a:latin typeface="Tahoma"/>
                <a:cs typeface="Tahoma"/>
              </a:rPr>
              <a:t> for </a:t>
            </a:r>
            <a:r>
              <a:rPr sz="1100" spc="-60" dirty="0">
                <a:latin typeface="Tahoma"/>
                <a:cs typeface="Tahoma"/>
              </a:rPr>
              <a:t>researchers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students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beginning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work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0" dirty="0">
                <a:latin typeface="Tahoma"/>
                <a:cs typeface="Tahoma"/>
              </a:rPr>
              <a:t> deep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genomics.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Implementation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details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GitHub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0" dirty="0">
                <a:latin typeface="Tahoma"/>
                <a:cs typeface="Tahoma"/>
                <a:hlinkClick r:id="rId2" action="ppaction://hlinksldjump"/>
              </a:rPr>
              <a:t>[6]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275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  <a:hlinkClick r:id="rId3"/>
              </a:rPr>
              <a:t>Google</a:t>
            </a:r>
            <a:r>
              <a:rPr sz="1100" i="1" spc="15" dirty="0">
                <a:latin typeface="Arial"/>
                <a:cs typeface="Arial"/>
                <a:hlinkClick r:id="rId3"/>
              </a:rPr>
              <a:t> </a:t>
            </a:r>
            <a:r>
              <a:rPr sz="1100" i="1" spc="-10" dirty="0">
                <a:latin typeface="Arial"/>
                <a:cs typeface="Arial"/>
                <a:hlinkClick r:id="rId3"/>
              </a:rPr>
              <a:t>Colab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Datasets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12963"/>
            <a:ext cx="5469255" cy="1224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5" dirty="0">
                <a:latin typeface="Tahoma"/>
                <a:cs typeface="Tahoma"/>
              </a:rPr>
              <a:t>Genomic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highly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diverse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formats,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pervasive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missing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values, </a:t>
            </a:r>
            <a:r>
              <a:rPr sz="1100" spc="-35" dirty="0">
                <a:latin typeface="Tahoma"/>
                <a:cs typeface="Tahoma"/>
              </a:rPr>
              <a:t>variable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lengths,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extreme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scale,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class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imbalance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functional </a:t>
            </a:r>
            <a:r>
              <a:rPr sz="1100" spc="-35" dirty="0">
                <a:latin typeface="Tahoma"/>
                <a:cs typeface="Tahoma"/>
              </a:rPr>
              <a:t>annotations,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batch </a:t>
            </a:r>
            <a:r>
              <a:rPr sz="1100" spc="-40" dirty="0">
                <a:latin typeface="Tahoma"/>
                <a:cs typeface="Tahoma"/>
              </a:rPr>
              <a:t>effects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sequencing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technologies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experimental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conditions.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formats </a:t>
            </a:r>
            <a:r>
              <a:rPr sz="1100" spc="-35" dirty="0">
                <a:latin typeface="Tahoma"/>
                <a:cs typeface="Tahoma"/>
              </a:rPr>
              <a:t>available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materials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stored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 </a:t>
            </a:r>
            <a:r>
              <a:rPr sz="1100" spc="-45" dirty="0">
                <a:latin typeface="Tahoma"/>
                <a:cs typeface="Tahoma"/>
              </a:rPr>
              <a:t>genomic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coordinates.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previously </a:t>
            </a:r>
            <a:r>
              <a:rPr sz="1100" spc="-45" dirty="0">
                <a:latin typeface="Tahoma"/>
                <a:cs typeface="Tahoma"/>
              </a:rPr>
              <a:t>mapped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seq2loc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Python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package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specializes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mapping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fasta </a:t>
            </a:r>
            <a:r>
              <a:rPr sz="1100" spc="-25" dirty="0">
                <a:latin typeface="Tahoma"/>
                <a:cs typeface="Tahoma"/>
              </a:rPr>
              <a:t>files,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human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enhancers,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non-</a:t>
            </a:r>
            <a:r>
              <a:rPr sz="1100" dirty="0">
                <a:latin typeface="Tahoma"/>
                <a:cs typeface="Tahoma"/>
              </a:rPr>
              <a:t>TATA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promoters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coordinates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Browser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Extensible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(BED)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format.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Datasets</a:t>
            </a:r>
          </a:p>
        </p:txBody>
      </p:sp>
      <p:sp>
        <p:nvSpPr>
          <p:cNvPr id="3" name="object 3"/>
          <p:cNvSpPr/>
          <p:nvPr/>
        </p:nvSpPr>
        <p:spPr>
          <a:xfrm>
            <a:off x="1531162" y="1355902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6643" y="1355902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012" y="1355902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9581" y="1527975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75950" y="1527975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96884" y="1872132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13266" y="1872132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4021" y="2044204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9562" y="2044204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5844" y="863039"/>
            <a:ext cx="549973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selected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  <a:hlinkClick r:id="rId2" action="ppaction://hlinksldjump"/>
              </a:rPr>
              <a:t>8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benchmarking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consist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(2)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non-</a:t>
            </a:r>
            <a:r>
              <a:rPr sz="1100" spc="-40" dirty="0">
                <a:latin typeface="Tahoma"/>
                <a:cs typeface="Tahoma"/>
              </a:rPr>
              <a:t>uniform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sequence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(2)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uniform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length,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containing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unbalanced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classes.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first </a:t>
            </a:r>
            <a:r>
              <a:rPr sz="1100" spc="-50" dirty="0">
                <a:latin typeface="Tahoma"/>
                <a:cs typeface="Tahoma"/>
              </a:rPr>
              <a:t>non-</a:t>
            </a:r>
            <a:r>
              <a:rPr sz="1100" spc="-40" dirty="0">
                <a:latin typeface="Tahoma"/>
                <a:cs typeface="Tahoma"/>
              </a:rPr>
              <a:t>uniform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dummy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spc="-75" dirty="0">
                <a:latin typeface="Arial"/>
                <a:cs typeface="Arial"/>
              </a:rPr>
              <a:t>mouse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enhancers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i="1" spc="-60" dirty="0">
                <a:latin typeface="Arial"/>
                <a:cs typeface="Arial"/>
              </a:rPr>
              <a:t>ensembl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designed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’dummy’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prototyping.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non-</a:t>
            </a:r>
            <a:r>
              <a:rPr sz="1100" spc="-40" dirty="0">
                <a:latin typeface="Tahoma"/>
                <a:cs typeface="Tahoma"/>
              </a:rPr>
              <a:t>uniform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Arial"/>
                <a:cs typeface="Arial"/>
              </a:rPr>
              <a:t>drosophila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enhancers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stark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consisting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drosophila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enhancer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[5].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previously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converted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seq2loc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dirty="0">
                <a:latin typeface="Tahoma"/>
                <a:cs typeface="Tahoma"/>
              </a:rPr>
              <a:t>BED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format.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Arial"/>
                <a:cs typeface="Arial"/>
              </a:rPr>
              <a:t>human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enhancers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cohn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consists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human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enhancers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[1].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Arial"/>
                <a:cs typeface="Arial"/>
              </a:rPr>
              <a:t>human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nontata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promoters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non-</a:t>
            </a:r>
            <a:r>
              <a:rPr sz="1100" dirty="0">
                <a:latin typeface="Tahoma"/>
                <a:cs typeface="Tahoma"/>
              </a:rPr>
              <a:t>TATA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promoters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  <a:hlinkClick r:id="rId4" action="ppaction://hlinksldjump"/>
              </a:rPr>
              <a:t>[7]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class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imbalance.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ts val="900"/>
              </a:lnSpc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8544" y="2810306"/>
            <a:ext cx="2193290" cy="0"/>
          </a:xfrm>
          <a:custGeom>
            <a:avLst/>
            <a:gdLst/>
            <a:ahLst/>
            <a:cxnLst/>
            <a:rect l="l" t="t" r="r" b="b"/>
            <a:pathLst>
              <a:path w="2193290">
                <a:moveTo>
                  <a:pt x="0" y="0"/>
                </a:moveTo>
                <a:lnTo>
                  <a:pt x="219312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00969" y="2941396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11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0444" y="2817350"/>
            <a:ext cx="541464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 indent="163830">
              <a:lnSpc>
                <a:spcPct val="101499"/>
              </a:lnSpc>
              <a:spcBef>
                <a:spcPts val="80"/>
              </a:spcBef>
            </a:pPr>
            <a:r>
              <a:rPr sz="900" baseline="37037" dirty="0">
                <a:latin typeface="Tahoma"/>
                <a:cs typeface="Tahoma"/>
              </a:rPr>
              <a:t>1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materials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include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additional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datasets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available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Calibri"/>
                <a:cs typeface="Calibri"/>
              </a:rPr>
              <a:t>genomic</a:t>
            </a:r>
            <a:r>
              <a:rPr sz="900" i="1" spc="95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benchmarks</a:t>
            </a:r>
            <a:r>
              <a:rPr sz="900" i="1" spc="150" dirty="0">
                <a:latin typeface="Calibri"/>
                <a:cs typeface="Calibri"/>
              </a:rPr>
              <a:t> </a:t>
            </a:r>
            <a:r>
              <a:rPr sz="900" dirty="0">
                <a:latin typeface="Arial"/>
                <a:cs typeface="Arial"/>
                <a:hlinkClick r:id="rId4" action="ppaction://hlinksldjump"/>
              </a:rPr>
              <a:t>[6]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Python </a:t>
            </a:r>
            <a:r>
              <a:rPr sz="900" spc="-45" dirty="0">
                <a:latin typeface="Arial"/>
                <a:cs typeface="Arial"/>
              </a:rPr>
              <a:t>package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ML-Bioinfo-</a:t>
            </a:r>
            <a:r>
              <a:rPr sz="900" b="1" dirty="0">
                <a:latin typeface="Arial"/>
                <a:cs typeface="Arial"/>
              </a:rPr>
              <a:t>CEITEC</a:t>
            </a:r>
            <a:r>
              <a:rPr sz="900" b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  <a:hlinkClick r:id="rId5"/>
              </a:rPr>
              <a:t>Hugging</a:t>
            </a:r>
            <a:r>
              <a:rPr sz="900" spc="10" dirty="0">
                <a:latin typeface="Arial"/>
                <a:cs typeface="Arial"/>
                <a:hlinkClick r:id="rId5"/>
              </a:rPr>
              <a:t> </a:t>
            </a:r>
            <a:r>
              <a:rPr sz="900" spc="-20" dirty="0">
                <a:latin typeface="Arial"/>
                <a:cs typeface="Arial"/>
                <a:hlinkClick r:id="rId5"/>
              </a:rPr>
              <a:t>Face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154495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Selected</a:t>
            </a:r>
            <a:r>
              <a:rPr spc="40" dirty="0"/>
              <a:t> </a:t>
            </a:r>
            <a:r>
              <a:rPr spc="-10" dirty="0"/>
              <a:t>Datasets</a:t>
            </a:r>
          </a:p>
        </p:txBody>
      </p:sp>
      <p:sp>
        <p:nvSpPr>
          <p:cNvPr id="3" name="object 3"/>
          <p:cNvSpPr/>
          <p:nvPr/>
        </p:nvSpPr>
        <p:spPr>
          <a:xfrm>
            <a:off x="453817" y="143422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6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9948" y="143422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6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9921" y="143422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6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2034" y="154030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6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2014" y="154030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6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1746" y="164638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6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1727" y="164638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6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36986" y="1249217"/>
          <a:ext cx="5453380" cy="53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7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8585">
                <a:tc>
                  <a:txBody>
                    <a:bodyPr/>
                    <a:lstStyle/>
                    <a:p>
                      <a:pPr marL="46355">
                        <a:lnSpc>
                          <a:spcPts val="725"/>
                        </a:lnSpc>
                      </a:pPr>
                      <a:r>
                        <a:rPr sz="650" b="1" spc="-20" dirty="0">
                          <a:latin typeface="Arial"/>
                          <a:cs typeface="Arial"/>
                        </a:rPr>
                        <a:t>Name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sz="650" b="1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650" b="1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650" b="1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spc="-10" dirty="0">
                          <a:latin typeface="Arial"/>
                          <a:cs typeface="Arial"/>
                        </a:rPr>
                        <a:t>Sequences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sz="650" b="1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650" b="1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650" b="1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spc="-10" dirty="0">
                          <a:latin typeface="Arial"/>
                          <a:cs typeface="Arial"/>
                        </a:rPr>
                        <a:t>Classes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sz="650" b="1" spc="-30" dirty="0">
                          <a:latin typeface="Arial"/>
                          <a:cs typeface="Arial"/>
                        </a:rPr>
                        <a:t>Class</a:t>
                      </a:r>
                      <a:r>
                        <a:rPr sz="65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spc="-10" dirty="0">
                          <a:latin typeface="Arial"/>
                          <a:cs typeface="Arial"/>
                        </a:rPr>
                        <a:t>Ratio</a:t>
                      </a:r>
                      <a:r>
                        <a:rPr sz="750" spc="-15" baseline="27777" dirty="0">
                          <a:latin typeface="Tahoma"/>
                          <a:cs typeface="Tahoma"/>
                        </a:rPr>
                        <a:t>2</a:t>
                      </a:r>
                      <a:endParaRPr sz="750" baseline="27777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sz="650" b="1" dirty="0">
                          <a:latin typeface="Arial"/>
                          <a:cs typeface="Arial"/>
                        </a:rPr>
                        <a:t>Median</a:t>
                      </a:r>
                      <a:r>
                        <a:rPr sz="65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spc="-10" dirty="0">
                          <a:latin typeface="Arial"/>
                          <a:cs typeface="Arial"/>
                        </a:rPr>
                        <a:t>Length</a:t>
                      </a:r>
                      <a:r>
                        <a:rPr sz="750" spc="-15" baseline="27777" dirty="0">
                          <a:latin typeface="Tahoma"/>
                          <a:cs typeface="Tahoma"/>
                        </a:rPr>
                        <a:t>3</a:t>
                      </a:r>
                      <a:endParaRPr sz="750" baseline="27777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sz="650" b="1" spc="-25" dirty="0">
                          <a:latin typeface="Arial"/>
                          <a:cs typeface="Arial"/>
                        </a:rPr>
                        <a:t>Sequence</a:t>
                      </a:r>
                      <a:r>
                        <a:rPr sz="65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dirty="0">
                          <a:latin typeface="Arial"/>
                          <a:cs typeface="Arial"/>
                        </a:rPr>
                        <a:t>Length</a:t>
                      </a:r>
                      <a:r>
                        <a:rPr sz="650" b="1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spc="-10" dirty="0">
                          <a:latin typeface="Arial"/>
                          <a:cs typeface="Arial"/>
                        </a:rPr>
                        <a:t>Range</a:t>
                      </a:r>
                      <a:r>
                        <a:rPr sz="750" spc="-15" baseline="27777" dirty="0">
                          <a:latin typeface="Tahoma"/>
                          <a:cs typeface="Tahoma"/>
                        </a:rPr>
                        <a:t>4</a:t>
                      </a:r>
                      <a:endParaRPr sz="750" baseline="27777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">
                <a:tc>
                  <a:txBody>
                    <a:bodyPr/>
                    <a:lstStyle/>
                    <a:p>
                      <a:pPr marL="46355">
                        <a:lnSpc>
                          <a:spcPts val="725"/>
                        </a:lnSpc>
                      </a:pPr>
                      <a:r>
                        <a:rPr sz="650" spc="-10" dirty="0">
                          <a:latin typeface="Tahoma"/>
                          <a:cs typeface="Tahoma"/>
                        </a:rPr>
                        <a:t>dummy</a:t>
                      </a:r>
                      <a:r>
                        <a:rPr sz="65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mouse</a:t>
                      </a:r>
                      <a:r>
                        <a:rPr sz="65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enhancers</a:t>
                      </a:r>
                      <a:r>
                        <a:rPr sz="65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10" dirty="0">
                          <a:latin typeface="Tahoma"/>
                          <a:cs typeface="Tahoma"/>
                        </a:rPr>
                        <a:t>ensembl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sz="650" spc="-20" dirty="0">
                          <a:latin typeface="Tahoma"/>
                          <a:cs typeface="Tahoma"/>
                        </a:rPr>
                        <a:t>1210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sz="650" spc="-50" dirty="0">
                          <a:latin typeface="Tahoma"/>
                          <a:cs typeface="Tahoma"/>
                        </a:rPr>
                        <a:t>2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725"/>
                        </a:lnSpc>
                      </a:pPr>
                      <a:r>
                        <a:rPr sz="650" spc="-25" dirty="0">
                          <a:latin typeface="Tahoma"/>
                          <a:cs typeface="Tahoma"/>
                        </a:rPr>
                        <a:t>1.0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725"/>
                        </a:lnSpc>
                      </a:pPr>
                      <a:r>
                        <a:rPr sz="650" spc="-20" dirty="0">
                          <a:latin typeface="Tahoma"/>
                          <a:cs typeface="Tahoma"/>
                        </a:rPr>
                        <a:t>2381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725"/>
                        </a:lnSpc>
                      </a:pPr>
                      <a:r>
                        <a:rPr sz="650" dirty="0">
                          <a:latin typeface="Tahoma"/>
                          <a:cs typeface="Tahoma"/>
                        </a:rPr>
                        <a:t>331 to</a:t>
                      </a:r>
                      <a:r>
                        <a:rPr sz="65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4476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45">
                <a:tc>
                  <a:txBody>
                    <a:bodyPr/>
                    <a:lstStyle/>
                    <a:p>
                      <a:pPr marL="46355">
                        <a:lnSpc>
                          <a:spcPts val="720"/>
                        </a:lnSpc>
                      </a:pPr>
                      <a:r>
                        <a:rPr sz="650" spc="-10" dirty="0">
                          <a:latin typeface="Tahoma"/>
                          <a:cs typeface="Tahoma"/>
                        </a:rPr>
                        <a:t>drosophila</a:t>
                      </a:r>
                      <a:r>
                        <a:rPr sz="65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enhancers</a:t>
                      </a:r>
                      <a:r>
                        <a:rPr sz="65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10" dirty="0">
                          <a:latin typeface="Tahoma"/>
                          <a:cs typeface="Tahoma"/>
                        </a:rPr>
                        <a:t>stark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650" spc="-20" dirty="0">
                          <a:latin typeface="Tahoma"/>
                          <a:cs typeface="Tahoma"/>
                        </a:rPr>
                        <a:t>6914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650" spc="-50" dirty="0">
                          <a:latin typeface="Tahoma"/>
                          <a:cs typeface="Tahoma"/>
                        </a:rPr>
                        <a:t>2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720"/>
                        </a:lnSpc>
                      </a:pPr>
                      <a:r>
                        <a:rPr sz="650" spc="-25" dirty="0">
                          <a:latin typeface="Tahoma"/>
                          <a:cs typeface="Tahoma"/>
                        </a:rPr>
                        <a:t>1.0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720"/>
                        </a:lnSpc>
                      </a:pPr>
                      <a:r>
                        <a:rPr sz="650" spc="-20" dirty="0">
                          <a:latin typeface="Tahoma"/>
                          <a:cs typeface="Tahoma"/>
                        </a:rPr>
                        <a:t>2142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720"/>
                        </a:lnSpc>
                      </a:pPr>
                      <a:r>
                        <a:rPr sz="650" dirty="0">
                          <a:latin typeface="Tahoma"/>
                          <a:cs typeface="Tahoma"/>
                        </a:rPr>
                        <a:t>236 to</a:t>
                      </a:r>
                      <a:r>
                        <a:rPr sz="65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3237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45">
                <a:tc>
                  <a:txBody>
                    <a:bodyPr/>
                    <a:lstStyle/>
                    <a:p>
                      <a:pPr marL="46355">
                        <a:lnSpc>
                          <a:spcPts val="720"/>
                        </a:lnSpc>
                      </a:pPr>
                      <a:r>
                        <a:rPr sz="650" dirty="0">
                          <a:latin typeface="Tahoma"/>
                          <a:cs typeface="Tahoma"/>
                        </a:rPr>
                        <a:t>human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 enhancers</a:t>
                      </a:r>
                      <a:r>
                        <a:rPr sz="65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cohn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650" spc="-10" dirty="0">
                          <a:latin typeface="Tahoma"/>
                          <a:cs typeface="Tahoma"/>
                        </a:rPr>
                        <a:t>27791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650" spc="-50" dirty="0">
                          <a:latin typeface="Tahoma"/>
                          <a:cs typeface="Tahoma"/>
                        </a:rPr>
                        <a:t>2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720"/>
                        </a:lnSpc>
                      </a:pPr>
                      <a:r>
                        <a:rPr sz="650" spc="-25" dirty="0">
                          <a:latin typeface="Tahoma"/>
                          <a:cs typeface="Tahoma"/>
                        </a:rPr>
                        <a:t>1.0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720"/>
                        </a:lnSpc>
                      </a:pPr>
                      <a:r>
                        <a:rPr sz="650" spc="-25" dirty="0">
                          <a:latin typeface="Tahoma"/>
                          <a:cs typeface="Tahoma"/>
                        </a:rPr>
                        <a:t>500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720"/>
                        </a:lnSpc>
                      </a:pPr>
                      <a:r>
                        <a:rPr sz="650" spc="-50" dirty="0">
                          <a:latin typeface="Tahoma"/>
                          <a:cs typeface="Tahoma"/>
                        </a:rPr>
                        <a:t>-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46355">
                        <a:lnSpc>
                          <a:spcPts val="720"/>
                        </a:lnSpc>
                      </a:pPr>
                      <a:r>
                        <a:rPr sz="650" dirty="0">
                          <a:latin typeface="Tahoma"/>
                          <a:cs typeface="Tahoma"/>
                        </a:rPr>
                        <a:t>human</a:t>
                      </a:r>
                      <a:r>
                        <a:rPr sz="65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dirty="0">
                          <a:latin typeface="Tahoma"/>
                          <a:cs typeface="Tahoma"/>
                        </a:rPr>
                        <a:t>nontata</a:t>
                      </a:r>
                      <a:r>
                        <a:rPr sz="6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650" spc="-10" dirty="0">
                          <a:latin typeface="Tahoma"/>
                          <a:cs typeface="Tahoma"/>
                        </a:rPr>
                        <a:t>promoters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650" spc="-10" dirty="0">
                          <a:latin typeface="Tahoma"/>
                          <a:cs typeface="Tahoma"/>
                        </a:rPr>
                        <a:t>36131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650" spc="-50" dirty="0">
                          <a:latin typeface="Tahoma"/>
                          <a:cs typeface="Tahoma"/>
                        </a:rPr>
                        <a:t>2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720"/>
                        </a:lnSpc>
                      </a:pPr>
                      <a:r>
                        <a:rPr sz="650" spc="-25" dirty="0">
                          <a:latin typeface="Tahoma"/>
                          <a:cs typeface="Tahoma"/>
                        </a:rPr>
                        <a:t>1.2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720"/>
                        </a:lnSpc>
                      </a:pPr>
                      <a:r>
                        <a:rPr sz="650" spc="-25" dirty="0">
                          <a:latin typeface="Tahoma"/>
                          <a:cs typeface="Tahoma"/>
                        </a:rPr>
                        <a:t>251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720"/>
                        </a:lnSpc>
                      </a:pPr>
                      <a:r>
                        <a:rPr sz="650" spc="-50" dirty="0">
                          <a:latin typeface="Tahoma"/>
                          <a:cs typeface="Tahoma"/>
                        </a:rPr>
                        <a:t>-</a:t>
                      </a:r>
                      <a:endParaRPr sz="6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138544" y="2669590"/>
            <a:ext cx="2193290" cy="0"/>
          </a:xfrm>
          <a:custGeom>
            <a:avLst/>
            <a:gdLst/>
            <a:ahLst/>
            <a:cxnLst/>
            <a:rect l="l" t="t" r="r" b="b"/>
            <a:pathLst>
              <a:path w="2193290">
                <a:moveTo>
                  <a:pt x="0" y="0"/>
                </a:moveTo>
                <a:lnTo>
                  <a:pt x="219312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4452" y="2676634"/>
            <a:ext cx="5386070" cy="441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aseline="37037" dirty="0">
                <a:latin typeface="Tahoma"/>
                <a:cs typeface="Tahoma"/>
              </a:rPr>
              <a:t>2</a:t>
            </a:r>
            <a:r>
              <a:rPr sz="900" dirty="0">
                <a:latin typeface="Arial"/>
                <a:cs typeface="Arial"/>
              </a:rPr>
              <a:t>Ratio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largest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class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900" spc="-15" baseline="37037" dirty="0">
                <a:latin typeface="Tahoma"/>
                <a:cs typeface="Tahoma"/>
              </a:rPr>
              <a:t>3</a:t>
            </a:r>
            <a:r>
              <a:rPr sz="900" spc="-10" dirty="0">
                <a:latin typeface="Arial"/>
                <a:cs typeface="Arial"/>
              </a:rPr>
              <a:t>Median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length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70" dirty="0">
                <a:latin typeface="Arial"/>
                <a:cs typeface="Arial"/>
              </a:rPr>
              <a:t>sequences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dataset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z="900" baseline="37037" dirty="0">
                <a:latin typeface="Tahoma"/>
                <a:cs typeface="Tahoma"/>
              </a:rPr>
              <a:t>4</a:t>
            </a:r>
            <a:r>
              <a:rPr sz="900" dirty="0">
                <a:latin typeface="Arial"/>
                <a:cs typeface="Arial"/>
              </a:rPr>
              <a:t>Minimum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maximum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length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65" dirty="0">
                <a:latin typeface="Arial"/>
                <a:cs typeface="Arial"/>
              </a:rPr>
              <a:t>sequences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dataset.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*Note:</a:t>
            </a:r>
            <a:r>
              <a:rPr sz="900" spc="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blank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sequence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are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length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Statistical</a:t>
            </a:r>
            <a:r>
              <a:rPr spc="155" dirty="0"/>
              <a:t> </a:t>
            </a:r>
            <a:r>
              <a:rPr spc="-50" dirty="0"/>
              <a:t>Methods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084870"/>
            <a:ext cx="5537200" cy="1052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classification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metrics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look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True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Positive,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True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Negative,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False </a:t>
            </a:r>
            <a:r>
              <a:rPr sz="1100" i="1" spc="-30" dirty="0">
                <a:latin typeface="Arial"/>
                <a:cs typeface="Arial"/>
              </a:rPr>
              <a:t>Positive,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80" dirty="0">
                <a:latin typeface="Arial"/>
                <a:cs typeface="Arial"/>
              </a:rPr>
              <a:t>False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Negative,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Precision,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Recall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(eq.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1)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These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metrics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measure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Arial"/>
                <a:cs typeface="Arial"/>
              </a:rPr>
              <a:t>Accuracy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(eq.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2)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7" baseline="-10416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Score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(eq.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3)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benchmarking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models.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7" baseline="-10416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Score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binary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predictions.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Otherwise,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i="1" baseline="-13888" dirty="0">
                <a:latin typeface="Verdana"/>
                <a:cs typeface="Verdana"/>
              </a:rPr>
              <a:t>β</a:t>
            </a:r>
            <a:r>
              <a:rPr sz="1200" i="1" spc="135" baseline="-13888" dirty="0">
                <a:latin typeface="Verdana"/>
                <a:cs typeface="Verdana"/>
              </a:rPr>
              <a:t> </a:t>
            </a:r>
            <a:r>
              <a:rPr sz="1100" i="1" spc="-65" dirty="0">
                <a:latin typeface="Arial"/>
                <a:cs typeface="Arial"/>
              </a:rPr>
              <a:t>Score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(eq.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4)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used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multi-</a:t>
            </a:r>
            <a:r>
              <a:rPr sz="1100" spc="-10" dirty="0">
                <a:latin typeface="Tahoma"/>
                <a:cs typeface="Tahoma"/>
              </a:rPr>
              <a:t>class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classification.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addition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these </a:t>
            </a:r>
            <a:r>
              <a:rPr sz="1100" spc="-35" dirty="0">
                <a:latin typeface="Tahoma"/>
                <a:cs typeface="Tahoma"/>
              </a:rPr>
              <a:t>metrics,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Cost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Functions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40" dirty="0">
                <a:latin typeface="Tahoma"/>
                <a:cs typeface="Tahoma"/>
              </a:rPr>
              <a:t>monitored </a:t>
            </a:r>
            <a:r>
              <a:rPr sz="1100" spc="-35" dirty="0">
                <a:latin typeface="Tahoma"/>
                <a:cs typeface="Tahoma"/>
              </a:rPr>
              <a:t>during model </a:t>
            </a:r>
            <a:r>
              <a:rPr sz="1100" spc="-10" dirty="0">
                <a:latin typeface="Tahoma"/>
                <a:cs typeface="Tahoma"/>
              </a:rPr>
              <a:t>training.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28695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Statistical</a:t>
            </a:r>
            <a:r>
              <a:rPr spc="65" dirty="0"/>
              <a:t> </a:t>
            </a:r>
            <a:r>
              <a:rPr spc="-25" dirty="0"/>
              <a:t>Methods:</a:t>
            </a:r>
            <a:r>
              <a:rPr spc="225" dirty="0"/>
              <a:t> </a:t>
            </a:r>
            <a:r>
              <a:rPr spc="-10" dirty="0"/>
              <a:t>Calculations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0239" y="638225"/>
            <a:ext cx="964565" cy="500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9530" algn="just">
              <a:lnSpc>
                <a:spcPct val="129700"/>
              </a:lnSpc>
              <a:spcBef>
                <a:spcPts val="100"/>
              </a:spcBef>
            </a:pPr>
            <a:r>
              <a:rPr sz="800" i="1" dirty="0">
                <a:latin typeface="Arial"/>
                <a:cs typeface="Arial"/>
              </a:rPr>
              <a:t>TP</a:t>
            </a:r>
            <a:r>
              <a:rPr sz="800" i="1" spc="85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True</a:t>
            </a:r>
            <a:r>
              <a:rPr sz="800" i="1" spc="130" dirty="0">
                <a:latin typeface="Arial"/>
                <a:cs typeface="Arial"/>
              </a:rPr>
              <a:t> </a:t>
            </a:r>
            <a:r>
              <a:rPr sz="800" i="1" spc="-20" dirty="0">
                <a:latin typeface="Arial"/>
                <a:cs typeface="Arial"/>
              </a:rPr>
              <a:t>Positive </a:t>
            </a:r>
            <a:r>
              <a:rPr sz="800" i="1" spc="50" dirty="0">
                <a:latin typeface="Arial"/>
                <a:cs typeface="Arial"/>
              </a:rPr>
              <a:t>TN</a:t>
            </a:r>
            <a:r>
              <a:rPr sz="800" i="1" spc="55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True</a:t>
            </a:r>
            <a:r>
              <a:rPr sz="800" i="1" spc="95" dirty="0">
                <a:latin typeface="Arial"/>
                <a:cs typeface="Arial"/>
              </a:rPr>
              <a:t> </a:t>
            </a:r>
            <a:r>
              <a:rPr sz="800" i="1" spc="-15" dirty="0">
                <a:latin typeface="Arial"/>
                <a:cs typeface="Arial"/>
              </a:rPr>
              <a:t>Negative </a:t>
            </a:r>
            <a:r>
              <a:rPr sz="800" i="1" dirty="0">
                <a:latin typeface="Arial"/>
                <a:cs typeface="Arial"/>
              </a:rPr>
              <a:t>FP</a:t>
            </a:r>
            <a:r>
              <a:rPr sz="800" i="1" spc="40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False</a:t>
            </a:r>
            <a:r>
              <a:rPr sz="800" i="1" spc="80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Positive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1882" y="1149386"/>
            <a:ext cx="973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FN</a:t>
            </a:r>
            <a:r>
              <a:rPr sz="800" i="1" spc="50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False</a:t>
            </a:r>
            <a:r>
              <a:rPr sz="800" i="1" spc="8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Negative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7991" y="1376831"/>
            <a:ext cx="544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Precision</a:t>
            </a:r>
            <a:r>
              <a:rPr sz="800" i="1" spc="-20" dirty="0">
                <a:latin typeface="Arial"/>
                <a:cs typeface="Arial"/>
              </a:rPr>
              <a:t> </a:t>
            </a:r>
            <a:r>
              <a:rPr sz="800" spc="20" dirty="0">
                <a:latin typeface="Tahoma"/>
                <a:cs typeface="Tahoma"/>
              </a:rPr>
              <a:t>=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6084" y="1306346"/>
            <a:ext cx="1676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TP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43847" y="1465452"/>
            <a:ext cx="420370" cy="0"/>
          </a:xfrm>
          <a:custGeom>
            <a:avLst/>
            <a:gdLst/>
            <a:ahLst/>
            <a:cxnLst/>
            <a:rect l="l" t="t" r="r" b="b"/>
            <a:pathLst>
              <a:path w="420370">
                <a:moveTo>
                  <a:pt x="0" y="0"/>
                </a:moveTo>
                <a:lnTo>
                  <a:pt x="420268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31147" y="1442682"/>
            <a:ext cx="437515" cy="288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5080" indent="-128270">
              <a:lnSpc>
                <a:spcPct val="107800"/>
              </a:lnSpc>
              <a:spcBef>
                <a:spcPts val="100"/>
              </a:spcBef>
            </a:pPr>
            <a:r>
              <a:rPr sz="800" i="1" dirty="0">
                <a:latin typeface="Arial"/>
                <a:cs typeface="Arial"/>
              </a:rPr>
              <a:t>TP</a:t>
            </a:r>
            <a:r>
              <a:rPr sz="800" i="1" spc="80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FP</a:t>
            </a:r>
            <a:r>
              <a:rPr sz="800" i="1" spc="25" dirty="0">
                <a:latin typeface="Arial"/>
                <a:cs typeface="Arial"/>
              </a:rPr>
              <a:t> TN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7828" y="1654592"/>
            <a:ext cx="417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Recall</a:t>
            </a:r>
            <a:r>
              <a:rPr sz="800" i="1" spc="10" dirty="0">
                <a:latin typeface="Arial"/>
                <a:cs typeface="Arial"/>
              </a:rPr>
              <a:t> </a:t>
            </a:r>
            <a:r>
              <a:rPr sz="800" spc="20" dirty="0">
                <a:latin typeface="Tahoma"/>
                <a:cs typeface="Tahoma"/>
              </a:rPr>
              <a:t>=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6773" y="1743201"/>
            <a:ext cx="427355" cy="0"/>
          </a:xfrm>
          <a:custGeom>
            <a:avLst/>
            <a:gdLst/>
            <a:ahLst/>
            <a:cxnLst/>
            <a:rect l="l" t="t" r="r" b="b"/>
            <a:pathLst>
              <a:path w="427354">
                <a:moveTo>
                  <a:pt x="0" y="0"/>
                </a:moveTo>
                <a:lnTo>
                  <a:pt x="427342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24073" y="1730411"/>
            <a:ext cx="4445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0" dirty="0">
                <a:latin typeface="Arial"/>
                <a:cs typeface="Arial"/>
              </a:rPr>
              <a:t>TN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60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FP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1324" y="1191169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(1)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70836" y="2046209"/>
            <a:ext cx="558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Accuracy </a:t>
            </a:r>
            <a:r>
              <a:rPr sz="800" spc="20" dirty="0">
                <a:latin typeface="Tahoma"/>
                <a:cs typeface="Tahoma"/>
              </a:rPr>
              <a:t>=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9974" y="1975737"/>
            <a:ext cx="1562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FP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61755" y="2134831"/>
            <a:ext cx="420370" cy="0"/>
          </a:xfrm>
          <a:custGeom>
            <a:avLst/>
            <a:gdLst/>
            <a:ahLst/>
            <a:cxnLst/>
            <a:rect l="l" t="t" r="r" b="b"/>
            <a:pathLst>
              <a:path w="420369">
                <a:moveTo>
                  <a:pt x="0" y="0"/>
                </a:moveTo>
                <a:lnTo>
                  <a:pt x="420268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14383" y="2046209"/>
            <a:ext cx="300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1</a:t>
            </a:r>
            <a:r>
              <a:rPr sz="800" spc="-60" dirty="0">
                <a:latin typeface="Tahoma"/>
                <a:cs typeface="Tahoma"/>
              </a:rPr>
              <a:t> </a:t>
            </a:r>
            <a:r>
              <a:rPr sz="800" i="1" spc="-60" dirty="0">
                <a:latin typeface="Meiryo UI"/>
                <a:cs typeface="Meiryo UI"/>
              </a:rPr>
              <a:t>−</a:t>
            </a:r>
            <a:endParaRPr sz="800">
              <a:latin typeface="Meiryo UI"/>
              <a:cs typeface="Meiryo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63251" y="1975737"/>
            <a:ext cx="1676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TP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41014" y="2134831"/>
            <a:ext cx="420370" cy="0"/>
          </a:xfrm>
          <a:custGeom>
            <a:avLst/>
            <a:gdLst/>
            <a:ahLst/>
            <a:cxnLst/>
            <a:rect l="l" t="t" r="r" b="b"/>
            <a:pathLst>
              <a:path w="420370">
                <a:moveTo>
                  <a:pt x="0" y="0"/>
                </a:moveTo>
                <a:lnTo>
                  <a:pt x="420268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49055" y="2122041"/>
            <a:ext cx="12172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1845" algn="l"/>
              </a:tabLst>
            </a:pPr>
            <a:r>
              <a:rPr sz="800" i="1" dirty="0">
                <a:latin typeface="Arial"/>
                <a:cs typeface="Arial"/>
              </a:rPr>
              <a:t>TP</a:t>
            </a:r>
            <a:r>
              <a:rPr sz="800" i="1" spc="80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FP</a:t>
            </a:r>
            <a:r>
              <a:rPr sz="800" i="1" dirty="0">
                <a:latin typeface="Arial"/>
                <a:cs typeface="Arial"/>
              </a:rPr>
              <a:t>	TP</a:t>
            </a:r>
            <a:r>
              <a:rPr sz="800" i="1" spc="80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FP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71324" y="2046209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(2)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98052" y="2402076"/>
            <a:ext cx="7448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F</a:t>
            </a:r>
            <a:r>
              <a:rPr sz="900" baseline="-9259" dirty="0">
                <a:latin typeface="Tahoma"/>
                <a:cs typeface="Tahoma"/>
              </a:rPr>
              <a:t>1</a:t>
            </a:r>
            <a:r>
              <a:rPr sz="900" spc="142" baseline="-9259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Score</a:t>
            </a:r>
            <a:r>
              <a:rPr sz="800" i="1" spc="45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2</a:t>
            </a:r>
            <a:r>
              <a:rPr sz="800" spc="-65" dirty="0">
                <a:latin typeface="Tahoma"/>
                <a:cs typeface="Tahoma"/>
              </a:rPr>
              <a:t> </a:t>
            </a:r>
            <a:r>
              <a:rPr sz="800" i="1" spc="-50" dirty="0">
                <a:latin typeface="Meiryo UI"/>
                <a:cs typeface="Meiryo UI"/>
              </a:rPr>
              <a:t>∗</a:t>
            </a:r>
            <a:endParaRPr sz="800">
              <a:latin typeface="Meiryo UI"/>
              <a:cs typeface="Meiryo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46247" y="2331604"/>
            <a:ext cx="751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precision</a:t>
            </a:r>
            <a:r>
              <a:rPr sz="800" i="1" spc="-5" dirty="0">
                <a:latin typeface="Arial"/>
                <a:cs typeface="Arial"/>
              </a:rPr>
              <a:t> </a:t>
            </a:r>
            <a:r>
              <a:rPr sz="800" i="1" spc="-80" dirty="0">
                <a:latin typeface="Meiryo UI"/>
                <a:cs typeface="Meiryo UI"/>
              </a:rPr>
              <a:t>∗</a:t>
            </a:r>
            <a:r>
              <a:rPr sz="800" i="1" spc="-60" dirty="0">
                <a:latin typeface="Meiryo UI"/>
                <a:cs typeface="Meiryo UI"/>
              </a:rPr>
              <a:t> </a:t>
            </a:r>
            <a:r>
              <a:rPr sz="800" i="1" spc="-10" dirty="0">
                <a:latin typeface="Arial"/>
                <a:cs typeface="Arial"/>
              </a:rPr>
              <a:t>recall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44012" y="2490698"/>
            <a:ext cx="765175" cy="0"/>
          </a:xfrm>
          <a:custGeom>
            <a:avLst/>
            <a:gdLst/>
            <a:ahLst/>
            <a:cxnLst/>
            <a:rect l="l" t="t" r="r" b="b"/>
            <a:pathLst>
              <a:path w="765175">
                <a:moveTo>
                  <a:pt x="0" y="0"/>
                </a:moveTo>
                <a:lnTo>
                  <a:pt x="764654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31312" y="2477908"/>
            <a:ext cx="7810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precision</a:t>
            </a:r>
            <a:r>
              <a:rPr sz="800" i="1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i="1" spc="-10" dirty="0">
                <a:latin typeface="Arial"/>
                <a:cs typeface="Arial"/>
              </a:rPr>
              <a:t>recall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71324" y="2402076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(3)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476868" y="2861817"/>
            <a:ext cx="1360170" cy="0"/>
          </a:xfrm>
          <a:custGeom>
            <a:avLst/>
            <a:gdLst/>
            <a:ahLst/>
            <a:cxnLst/>
            <a:rect l="l" t="t" r="r" b="b"/>
            <a:pathLst>
              <a:path w="1360170">
                <a:moveTo>
                  <a:pt x="0" y="0"/>
                </a:moveTo>
                <a:lnTo>
                  <a:pt x="1360131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69706" y="2677884"/>
            <a:ext cx="2005964" cy="3181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290"/>
              </a:spcBef>
            </a:pPr>
            <a:r>
              <a:rPr sz="800" dirty="0">
                <a:latin typeface="Tahoma"/>
                <a:cs typeface="Tahoma"/>
              </a:rPr>
              <a:t>(1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i="1" dirty="0">
                <a:latin typeface="Verdana"/>
                <a:cs typeface="Verdana"/>
              </a:rPr>
              <a:t>β</a:t>
            </a:r>
            <a:r>
              <a:rPr sz="900" baseline="27777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)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i="1" spc="-80" dirty="0">
                <a:latin typeface="Meiryo UI"/>
                <a:cs typeface="Meiryo UI"/>
              </a:rPr>
              <a:t>∗</a:t>
            </a:r>
            <a:r>
              <a:rPr sz="800" i="1" spc="-65" dirty="0">
                <a:latin typeface="Meiryo UI"/>
                <a:cs typeface="Meiryo UI"/>
              </a:rPr>
              <a:t> </a:t>
            </a:r>
            <a:r>
              <a:rPr sz="800" i="1" spc="-25" dirty="0">
                <a:latin typeface="Arial"/>
                <a:cs typeface="Arial"/>
              </a:rPr>
              <a:t>TP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95"/>
              </a:spcBef>
            </a:pPr>
            <a:r>
              <a:rPr sz="1200" i="1" baseline="41666" dirty="0">
                <a:latin typeface="Arial"/>
                <a:cs typeface="Arial"/>
              </a:rPr>
              <a:t>F</a:t>
            </a:r>
            <a:r>
              <a:rPr sz="900" i="1" baseline="41666" dirty="0">
                <a:latin typeface="Arial"/>
                <a:cs typeface="Arial"/>
              </a:rPr>
              <a:t>β</a:t>
            </a:r>
            <a:r>
              <a:rPr sz="900" i="1" spc="337" baseline="41666" dirty="0">
                <a:latin typeface="Arial"/>
                <a:cs typeface="Arial"/>
              </a:rPr>
              <a:t> </a:t>
            </a:r>
            <a:r>
              <a:rPr sz="1200" i="1" spc="-37" baseline="41666" dirty="0">
                <a:latin typeface="Arial"/>
                <a:cs typeface="Arial"/>
              </a:rPr>
              <a:t>Score</a:t>
            </a:r>
            <a:r>
              <a:rPr sz="1200" i="1" spc="142" baseline="41666" dirty="0">
                <a:latin typeface="Arial"/>
                <a:cs typeface="Arial"/>
              </a:rPr>
              <a:t> </a:t>
            </a:r>
            <a:r>
              <a:rPr sz="1200" spc="104" baseline="41666" dirty="0">
                <a:latin typeface="Tahoma"/>
                <a:cs typeface="Tahoma"/>
              </a:rPr>
              <a:t>=</a:t>
            </a:r>
            <a:r>
              <a:rPr sz="1200" spc="217" baseline="41666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TP</a:t>
            </a:r>
            <a:r>
              <a:rPr sz="800" i="1" spc="60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FN</a:t>
            </a:r>
            <a:r>
              <a:rPr sz="800" dirty="0">
                <a:latin typeface="Tahoma"/>
                <a:cs typeface="Tahoma"/>
              </a:rPr>
              <a:t>)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i="1" spc="-80" dirty="0">
                <a:latin typeface="Meiryo UI"/>
                <a:cs typeface="Meiryo UI"/>
              </a:rPr>
              <a:t>∗</a:t>
            </a:r>
            <a:r>
              <a:rPr sz="800" i="1" spc="-65" dirty="0">
                <a:latin typeface="Meiryo UI"/>
                <a:cs typeface="Meiryo UI"/>
              </a:rPr>
              <a:t> </a:t>
            </a:r>
            <a:r>
              <a:rPr sz="800" i="1" dirty="0">
                <a:latin typeface="Verdana"/>
                <a:cs typeface="Verdana"/>
              </a:rPr>
              <a:t>β</a:t>
            </a:r>
            <a:r>
              <a:rPr sz="900" baseline="23148" dirty="0">
                <a:latin typeface="Tahoma"/>
                <a:cs typeface="Tahoma"/>
              </a:rPr>
              <a:t>2</a:t>
            </a:r>
            <a:r>
              <a:rPr sz="900" spc="120" baseline="23148" dirty="0">
                <a:latin typeface="Tahoma"/>
                <a:cs typeface="Tahoma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TP</a:t>
            </a:r>
            <a:r>
              <a:rPr sz="800" i="1" spc="60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FP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471324" y="2773196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(4)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Model</a:t>
            </a:r>
            <a:r>
              <a:rPr spc="-5" dirty="0"/>
              <a:t> </a:t>
            </a:r>
            <a:r>
              <a:rPr spc="-30" dirty="0"/>
              <a:t>Architecture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99323"/>
            <a:ext cx="5507355" cy="988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Convolutional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neural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networks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(CNNs)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are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powerful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deep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learning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architectures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that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extract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biologically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meaningful features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from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genomic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sequences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with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minimal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30" dirty="0">
                <a:latin typeface="Tahoma"/>
                <a:cs typeface="Tahoma"/>
              </a:rPr>
              <a:t>hand-</a:t>
            </a:r>
            <a:r>
              <a:rPr sz="800" spc="-20" dirty="0">
                <a:latin typeface="Tahoma"/>
                <a:cs typeface="Tahoma"/>
              </a:rPr>
              <a:t>engineered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input.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These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models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excel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at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70" dirty="0">
                <a:latin typeface="Tahoma"/>
                <a:cs typeface="Tahoma"/>
              </a:rPr>
              <a:t>DNA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feature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extraction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by </a:t>
            </a:r>
            <a:r>
              <a:rPr sz="800" dirty="0">
                <a:latin typeface="Tahoma"/>
                <a:cs typeface="Tahoma"/>
              </a:rPr>
              <a:t>automatically</a:t>
            </a:r>
            <a:r>
              <a:rPr sz="800" spc="-10" dirty="0">
                <a:latin typeface="Tahoma"/>
                <a:cs typeface="Tahoma"/>
              </a:rPr>
              <a:t> discovering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regulatory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elements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such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as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spacing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patterns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that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distinguish</a:t>
            </a:r>
            <a:r>
              <a:rPr sz="800" spc="-10" dirty="0">
                <a:latin typeface="Tahoma"/>
                <a:cs typeface="Tahoma"/>
              </a:rPr>
              <a:t> promoters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from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enhancers,</a:t>
            </a:r>
            <a:r>
              <a:rPr sz="800" spc="5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demonstrate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robustness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across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diverse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species</a:t>
            </a:r>
            <a:r>
              <a:rPr sz="800" dirty="0">
                <a:latin typeface="Tahoma"/>
                <a:cs typeface="Tahoma"/>
              </a:rPr>
              <a:t> and </a:t>
            </a:r>
            <a:r>
              <a:rPr sz="800" spc="-25" dirty="0">
                <a:latin typeface="Tahoma"/>
                <a:cs typeface="Tahoma"/>
              </a:rPr>
              <a:t>sequence</a:t>
            </a:r>
            <a:r>
              <a:rPr sz="800" dirty="0">
                <a:latin typeface="Tahoma"/>
                <a:cs typeface="Tahoma"/>
              </a:rPr>
              <a:t> contexts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  <a:hlinkClick r:id="rId2" action="ppaction://hlinksldjump"/>
              </a:rPr>
              <a:t>[8].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output of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spc="60" dirty="0">
                <a:latin typeface="Tahoma"/>
                <a:cs typeface="Tahoma"/>
              </a:rPr>
              <a:t>CNN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layer</a:t>
            </a:r>
            <a:r>
              <a:rPr sz="800" dirty="0">
                <a:latin typeface="Tahoma"/>
                <a:cs typeface="Tahoma"/>
              </a:rPr>
              <a:t> is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fed to </a:t>
            </a:r>
            <a:r>
              <a:rPr sz="800" spc="-25" dirty="0">
                <a:latin typeface="Tahoma"/>
                <a:cs typeface="Tahoma"/>
              </a:rPr>
              <a:t>the </a:t>
            </a:r>
            <a:r>
              <a:rPr sz="800" dirty="0">
                <a:latin typeface="Tahoma"/>
                <a:cs typeface="Tahoma"/>
              </a:rPr>
              <a:t>Max pooling </a:t>
            </a:r>
            <a:r>
              <a:rPr sz="800" spc="-10" dirty="0">
                <a:latin typeface="Tahoma"/>
                <a:cs typeface="Tahoma"/>
              </a:rPr>
              <a:t>layer,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which </a:t>
            </a:r>
            <a:r>
              <a:rPr sz="800" spc="-10" dirty="0">
                <a:latin typeface="Tahoma"/>
                <a:cs typeface="Tahoma"/>
              </a:rPr>
              <a:t>helps</a:t>
            </a:r>
            <a:r>
              <a:rPr sz="800" dirty="0">
                <a:latin typeface="Tahoma"/>
                <a:cs typeface="Tahoma"/>
              </a:rPr>
              <a:t> to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reduce</a:t>
            </a:r>
            <a:r>
              <a:rPr sz="800" dirty="0">
                <a:latin typeface="Tahoma"/>
                <a:cs typeface="Tahoma"/>
              </a:rPr>
              <a:t> 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spatial </a:t>
            </a:r>
            <a:r>
              <a:rPr sz="800" spc="-10" dirty="0">
                <a:latin typeface="Tahoma"/>
                <a:cs typeface="Tahoma"/>
              </a:rPr>
              <a:t>dimensions</a:t>
            </a:r>
            <a:r>
              <a:rPr sz="800" dirty="0">
                <a:latin typeface="Tahoma"/>
                <a:cs typeface="Tahoma"/>
              </a:rPr>
              <a:t> of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spc="-10" dirty="0">
                <a:latin typeface="Tahoma"/>
                <a:cs typeface="Tahoma"/>
              </a:rPr>
              <a:t>feature</a:t>
            </a:r>
            <a:r>
              <a:rPr sz="800" dirty="0">
                <a:latin typeface="Tahoma"/>
                <a:cs typeface="Tahoma"/>
              </a:rPr>
              <a:t> maps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while retaining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most </a:t>
            </a:r>
            <a:r>
              <a:rPr sz="800" spc="-10" dirty="0">
                <a:latin typeface="Tahoma"/>
                <a:cs typeface="Tahoma"/>
              </a:rPr>
              <a:t>essential </a:t>
            </a:r>
            <a:r>
              <a:rPr sz="800" dirty="0">
                <a:latin typeface="Tahoma"/>
                <a:cs typeface="Tahoma"/>
              </a:rPr>
              <a:t>information by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selecting</a:t>
            </a:r>
            <a:r>
              <a:rPr sz="800" dirty="0">
                <a:latin typeface="Tahoma"/>
                <a:cs typeface="Tahoma"/>
              </a:rPr>
              <a:t> 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maximum </a:t>
            </a:r>
            <a:r>
              <a:rPr sz="800" spc="-10" dirty="0">
                <a:latin typeface="Tahoma"/>
                <a:cs typeface="Tahoma"/>
              </a:rPr>
              <a:t>value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within each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pooling window.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This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allows</a:t>
            </a:r>
            <a:r>
              <a:rPr sz="800" dirty="0">
                <a:latin typeface="Tahoma"/>
                <a:cs typeface="Tahoma"/>
              </a:rPr>
              <a:t> 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network</a:t>
            </a:r>
            <a:r>
              <a:rPr sz="800" dirty="0">
                <a:latin typeface="Tahoma"/>
                <a:cs typeface="Tahoma"/>
              </a:rPr>
              <a:t> to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focus on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most </a:t>
            </a:r>
            <a:r>
              <a:rPr sz="800" dirty="0">
                <a:latin typeface="Tahoma"/>
                <a:cs typeface="Tahoma"/>
              </a:rPr>
              <a:t>significant</a:t>
            </a:r>
            <a:r>
              <a:rPr sz="800" spc="-10" dirty="0">
                <a:latin typeface="Tahoma"/>
                <a:cs typeface="Tahoma"/>
              </a:rPr>
              <a:t> features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-10" dirty="0">
                <a:latin typeface="Tahoma"/>
                <a:cs typeface="Tahoma"/>
              </a:rPr>
              <a:t> become </a:t>
            </a:r>
            <a:r>
              <a:rPr sz="800" spc="-20" dirty="0">
                <a:latin typeface="Tahoma"/>
                <a:cs typeface="Tahoma"/>
              </a:rPr>
              <a:t>less</a:t>
            </a:r>
            <a:r>
              <a:rPr sz="800" spc="-10" dirty="0">
                <a:latin typeface="Tahoma"/>
                <a:cs typeface="Tahoma"/>
              </a:rPr>
              <a:t> sensitive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small</a:t>
            </a:r>
            <a:r>
              <a:rPr sz="800" spc="-10" dirty="0">
                <a:latin typeface="Tahoma"/>
                <a:cs typeface="Tahoma"/>
              </a:rPr>
              <a:t> variations </a:t>
            </a:r>
            <a:r>
              <a:rPr sz="800" dirty="0">
                <a:latin typeface="Tahoma"/>
                <a:cs typeface="Tahoma"/>
              </a:rPr>
              <a:t>in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input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sequence,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making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model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more </a:t>
            </a:r>
            <a:r>
              <a:rPr sz="800" dirty="0">
                <a:latin typeface="Tahoma"/>
                <a:cs typeface="Tahoma"/>
              </a:rPr>
              <a:t>robust.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To </a:t>
            </a:r>
            <a:r>
              <a:rPr sz="800" dirty="0">
                <a:latin typeface="Tahoma"/>
                <a:cs typeface="Tahoma"/>
              </a:rPr>
              <a:t>normalize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inputs to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spc="-20" dirty="0">
                <a:latin typeface="Tahoma"/>
                <a:cs typeface="Tahoma"/>
              </a:rPr>
              <a:t>layers,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batch normalization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layer</a:t>
            </a:r>
            <a:r>
              <a:rPr sz="800" dirty="0">
                <a:latin typeface="Tahoma"/>
                <a:cs typeface="Tahoma"/>
              </a:rPr>
              <a:t> is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introduced </a:t>
            </a:r>
            <a:r>
              <a:rPr sz="800" spc="-10" dirty="0">
                <a:latin typeface="Tahoma"/>
                <a:cs typeface="Tahoma"/>
              </a:rPr>
              <a:t>before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next </a:t>
            </a:r>
            <a:r>
              <a:rPr sz="800" spc="-10" dirty="0">
                <a:latin typeface="Tahoma"/>
                <a:cs typeface="Tahoma"/>
              </a:rPr>
              <a:t>layer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  <a:hlinkClick r:id="rId3" action="ppaction://hlinksldjump"/>
              </a:rPr>
              <a:t>[4].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Model</a:t>
            </a:r>
            <a:r>
              <a:rPr spc="-5" dirty="0"/>
              <a:t> </a:t>
            </a:r>
            <a:r>
              <a:rPr spc="-30" dirty="0"/>
              <a:t>Architecture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50618"/>
            <a:ext cx="5430520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8100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setup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experiment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implement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(2)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deep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convolutional</a:t>
            </a:r>
            <a:r>
              <a:rPr sz="1100" spc="-30" dirty="0">
                <a:latin typeface="Tahoma"/>
                <a:cs typeface="Tahoma"/>
              </a:rPr>
              <a:t> neural </a:t>
            </a:r>
            <a:r>
              <a:rPr sz="1100" spc="-55" dirty="0">
                <a:latin typeface="Tahoma"/>
                <a:cs typeface="Tahoma"/>
              </a:rPr>
              <a:t>networks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Arial"/>
                <a:cs typeface="Arial"/>
              </a:rPr>
              <a:t>Keras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package.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dense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networks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(1)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binary </a:t>
            </a:r>
            <a:r>
              <a:rPr sz="1100" spc="-25" dirty="0">
                <a:latin typeface="Tahoma"/>
                <a:cs typeface="Tahoma"/>
              </a:rPr>
              <a:t>classification</a:t>
            </a:r>
            <a:r>
              <a:rPr sz="1100" spc="-35" dirty="0">
                <a:latin typeface="Tahoma"/>
                <a:cs typeface="Tahoma"/>
              </a:rPr>
              <a:t> 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i="1" spc="-35" dirty="0">
                <a:latin typeface="Arial"/>
                <a:cs typeface="Arial"/>
              </a:rPr>
              <a:t>Sigmoid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(eq.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6)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activation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classes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multi-</a:t>
            </a:r>
            <a:r>
              <a:rPr sz="1100" spc="-10" dirty="0">
                <a:latin typeface="Tahoma"/>
                <a:cs typeface="Tahoma"/>
              </a:rPr>
              <a:t>class </a:t>
            </a:r>
            <a:r>
              <a:rPr sz="1100" spc="-25" dirty="0">
                <a:latin typeface="Tahoma"/>
                <a:cs typeface="Tahoma"/>
              </a:rPr>
              <a:t>classification</a:t>
            </a:r>
            <a:r>
              <a:rPr sz="1100" spc="-40" dirty="0">
                <a:latin typeface="Tahoma"/>
                <a:cs typeface="Tahoma"/>
              </a:rPr>
              <a:t> using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Softmax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(eq.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7)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activation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Model</a:t>
            </a:r>
            <a:r>
              <a:rPr spc="10" dirty="0"/>
              <a:t> </a:t>
            </a:r>
            <a:r>
              <a:rPr spc="-20" dirty="0"/>
              <a:t>Architecture:</a:t>
            </a:r>
            <a:r>
              <a:rPr spc="145" dirty="0"/>
              <a:t> </a:t>
            </a:r>
            <a:r>
              <a:rPr dirty="0"/>
              <a:t>Activation</a:t>
            </a:r>
            <a:r>
              <a:rPr spc="1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6005" y="1168481"/>
            <a:ext cx="88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</a:rPr>
              <a:t>+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3517" y="1185226"/>
            <a:ext cx="13938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ReLU</a:t>
            </a:r>
            <a:r>
              <a:rPr sz="800" spc="-10" dirty="0">
                <a:latin typeface="Tahoma"/>
                <a:cs typeface="Tahoma"/>
              </a:rPr>
              <a:t>(</a:t>
            </a:r>
            <a:r>
              <a:rPr sz="800" i="1" spc="-10" dirty="0">
                <a:latin typeface="Arial"/>
                <a:cs typeface="Arial"/>
              </a:rPr>
              <a:t>x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)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x</a:t>
            </a:r>
            <a:r>
              <a:rPr sz="800" i="1" spc="220" dirty="0">
                <a:latin typeface="Arial"/>
                <a:cs typeface="Arial"/>
              </a:rPr>
              <a:t> 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max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(0</a:t>
            </a:r>
            <a:r>
              <a:rPr sz="800" i="1" spc="-25" dirty="0">
                <a:latin typeface="Verdana"/>
                <a:cs typeface="Verdana"/>
              </a:rPr>
              <a:t>,</a:t>
            </a:r>
            <a:r>
              <a:rPr sz="800" i="1" spc="-135" dirty="0">
                <a:latin typeface="Verdana"/>
                <a:cs typeface="Verdana"/>
              </a:rPr>
              <a:t> </a:t>
            </a:r>
            <a:r>
              <a:rPr sz="800" i="1" spc="-20" dirty="0">
                <a:latin typeface="Arial"/>
                <a:cs typeface="Arial"/>
              </a:rPr>
              <a:t>x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)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=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0874" y="1185226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20" dirty="0">
                <a:latin typeface="Tahoma"/>
                <a:cs typeface="Tahoma"/>
              </a:rPr>
              <a:t>=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4400" y="1012645"/>
            <a:ext cx="1123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400" dirty="0">
                <a:latin typeface="Arial"/>
                <a:cs typeface="Arial"/>
              </a:rPr>
              <a:t>f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6976" y="1116646"/>
            <a:ext cx="1076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6420" algn="l"/>
              </a:tabLst>
            </a:pPr>
            <a:r>
              <a:rPr sz="8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800" i="1" u="sng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800" u="sng" spc="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sz="800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|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Meiryo UI"/>
                <a:cs typeface="Meiryo UI"/>
              </a:rPr>
              <a:t>|</a:t>
            </a:r>
            <a:r>
              <a:rPr sz="800" i="1" u="none" dirty="0">
                <a:latin typeface="Meiryo UI"/>
                <a:cs typeface="Meiryo UI"/>
              </a:rPr>
              <a:t>	</a:t>
            </a:r>
            <a:r>
              <a:rPr sz="800" i="1" u="none" dirty="0">
                <a:latin typeface="Arial"/>
                <a:cs typeface="Arial"/>
              </a:rPr>
              <a:t>x</a:t>
            </a:r>
            <a:r>
              <a:rPr sz="800" i="1" u="none" spc="145" dirty="0">
                <a:latin typeface="Arial"/>
                <a:cs typeface="Arial"/>
              </a:rPr>
              <a:t> </a:t>
            </a:r>
            <a:r>
              <a:rPr sz="800" i="1" u="none" dirty="0">
                <a:latin typeface="Arial"/>
                <a:cs typeface="Arial"/>
              </a:rPr>
              <a:t>if</a:t>
            </a:r>
            <a:r>
              <a:rPr sz="800" i="1" u="none" spc="245" dirty="0">
                <a:latin typeface="Arial"/>
                <a:cs typeface="Arial"/>
              </a:rPr>
              <a:t> </a:t>
            </a:r>
            <a:r>
              <a:rPr sz="800" i="1" u="none" dirty="0">
                <a:latin typeface="Arial"/>
                <a:cs typeface="Arial"/>
              </a:rPr>
              <a:t>x</a:t>
            </a:r>
            <a:r>
              <a:rPr sz="800" i="1" u="none" spc="95" dirty="0">
                <a:latin typeface="Arial"/>
                <a:cs typeface="Arial"/>
              </a:rPr>
              <a:t> </a:t>
            </a:r>
            <a:r>
              <a:rPr sz="800" i="1" u="none" dirty="0">
                <a:latin typeface="Verdana"/>
                <a:cs typeface="Verdana"/>
              </a:rPr>
              <a:t>&gt;</a:t>
            </a:r>
            <a:r>
              <a:rPr sz="800" i="1" u="none" spc="-45" dirty="0">
                <a:latin typeface="Verdana"/>
                <a:cs typeface="Verdana"/>
              </a:rPr>
              <a:t> </a:t>
            </a:r>
            <a:r>
              <a:rPr sz="800" u="none" spc="-25" dirty="0">
                <a:latin typeface="Tahoma"/>
                <a:cs typeface="Tahoma"/>
              </a:rPr>
              <a:t>0</a:t>
            </a:r>
            <a:r>
              <a:rPr sz="800" i="1" u="none" spc="-25" dirty="0">
                <a:latin typeface="Verdana"/>
                <a:cs typeface="Verdana"/>
              </a:rPr>
              <a:t>,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4509" y="1261045"/>
            <a:ext cx="7975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</a:tabLst>
            </a:pP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0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x</a:t>
            </a:r>
            <a:r>
              <a:rPr sz="800" i="1" spc="80" dirty="0">
                <a:latin typeface="Arial"/>
                <a:cs typeface="Arial"/>
              </a:rPr>
              <a:t> </a:t>
            </a:r>
            <a:r>
              <a:rPr sz="800" i="1" dirty="0">
                <a:latin typeface="Meiryo UI"/>
                <a:cs typeface="Meiryo UI"/>
              </a:rPr>
              <a:t>≤</a:t>
            </a:r>
            <a:r>
              <a:rPr sz="800" i="1" spc="-45" dirty="0">
                <a:latin typeface="Meiryo UI"/>
                <a:cs typeface="Meiryo UI"/>
              </a:rPr>
              <a:t> </a:t>
            </a:r>
            <a:r>
              <a:rPr sz="800" spc="-50" dirty="0">
                <a:latin typeface="Tahoma"/>
                <a:cs typeface="Tahoma"/>
              </a:rPr>
              <a:t>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1324" y="1185226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(5)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2116" y="148572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29889" y="1644815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>
                <a:moveTo>
                  <a:pt x="0" y="0"/>
                </a:moveTo>
                <a:lnTo>
                  <a:pt x="36361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13216" y="1556205"/>
            <a:ext cx="130556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78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Sigmoid</a:t>
            </a:r>
            <a:r>
              <a:rPr sz="800" i="1" spc="55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i="1" dirty="0">
                <a:latin typeface="Verdana"/>
                <a:cs typeface="Verdana"/>
              </a:rPr>
              <a:t>σ</a:t>
            </a: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x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)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=</a:t>
            </a:r>
            <a:endParaRPr sz="800">
              <a:latin typeface="Tahoma"/>
              <a:cs typeface="Tahoma"/>
            </a:endParaRPr>
          </a:p>
          <a:p>
            <a:pPr marL="916305">
              <a:lnSpc>
                <a:spcPts val="780"/>
              </a:lnSpc>
            </a:pPr>
            <a:r>
              <a:rPr sz="800" spc="-25" dirty="0">
                <a:latin typeface="Tahoma"/>
                <a:cs typeface="Tahoma"/>
              </a:rPr>
              <a:t>1</a:t>
            </a:r>
            <a:r>
              <a:rPr sz="800" spc="-65" dirty="0">
                <a:latin typeface="Tahoma"/>
                <a:cs typeface="Tahoma"/>
              </a:rPr>
              <a:t> </a:t>
            </a:r>
            <a:r>
              <a:rPr sz="800" spc="70" dirty="0">
                <a:latin typeface="Tahoma"/>
                <a:cs typeface="Tahoma"/>
              </a:rPr>
              <a:t>+</a:t>
            </a:r>
            <a:r>
              <a:rPr sz="800" spc="-60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e</a:t>
            </a:r>
            <a:r>
              <a:rPr sz="900" i="1" spc="-37" baseline="23148" dirty="0">
                <a:latin typeface="Verdana"/>
                <a:cs typeface="Verdana"/>
              </a:rPr>
              <a:t>−</a:t>
            </a:r>
            <a:r>
              <a:rPr sz="900" i="1" spc="-37" baseline="23148" dirty="0">
                <a:latin typeface="Arial"/>
                <a:cs typeface="Arial"/>
              </a:rPr>
              <a:t>x</a:t>
            </a:r>
            <a:endParaRPr sz="900" baseline="2314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1324" y="1556205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(6)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32124" y="1805037"/>
            <a:ext cx="182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37" baseline="-20833" dirty="0">
                <a:latin typeface="Arial"/>
                <a:cs typeface="Arial"/>
              </a:rPr>
              <a:t>e</a:t>
            </a:r>
            <a:r>
              <a:rPr sz="600" i="1" spc="-25" dirty="0">
                <a:latin typeface="Arial"/>
                <a:cs typeface="Arial"/>
              </a:rPr>
              <a:t>z</a:t>
            </a:r>
            <a:r>
              <a:rPr sz="750" i="1" spc="-37" baseline="-16666" dirty="0">
                <a:latin typeface="Arial"/>
                <a:cs typeface="Arial"/>
              </a:rPr>
              <a:t>i</a:t>
            </a:r>
            <a:endParaRPr sz="750" baseline="-16666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61741" y="1999856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4">
                <a:moveTo>
                  <a:pt x="0" y="0"/>
                </a:moveTo>
                <a:lnTo>
                  <a:pt x="341795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26714" y="2050140"/>
            <a:ext cx="1574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j</a:t>
            </a:r>
            <a:r>
              <a:rPr sz="600" spc="-25" dirty="0">
                <a:latin typeface="Tahoma"/>
                <a:cs typeface="Tahoma"/>
              </a:rPr>
              <a:t>=1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03183" y="1911247"/>
            <a:ext cx="1320165" cy="225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79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Softmax</a:t>
            </a:r>
            <a:r>
              <a:rPr sz="800" i="1" spc="85" dirty="0">
                <a:latin typeface="Arial"/>
                <a:cs typeface="Arial"/>
              </a:rPr>
              <a:t> </a:t>
            </a:r>
            <a:r>
              <a:rPr sz="800" spc="70" dirty="0">
                <a:latin typeface="Tahoma"/>
                <a:cs typeface="Tahoma"/>
              </a:rPr>
              <a:t>=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i="1" spc="-10" dirty="0">
                <a:latin typeface="Verdana"/>
                <a:cs typeface="Verdana"/>
              </a:rPr>
              <a:t>σ</a:t>
            </a:r>
            <a:r>
              <a:rPr sz="800" spc="-10" dirty="0">
                <a:latin typeface="Tahoma"/>
                <a:cs typeface="Tahoma"/>
              </a:rPr>
              <a:t>(</a:t>
            </a:r>
            <a:r>
              <a:rPr sz="800" i="1" spc="-10" dirty="0">
                <a:latin typeface="Arial"/>
                <a:cs typeface="Arial"/>
              </a:rPr>
              <a:t>z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)</a:t>
            </a:r>
            <a:r>
              <a:rPr sz="900" i="1" baseline="-13888" dirty="0">
                <a:latin typeface="Arial"/>
                <a:cs typeface="Arial"/>
              </a:rPr>
              <a:t>i</a:t>
            </a:r>
            <a:r>
              <a:rPr sz="900" i="1" spc="254" baseline="-13888" dirty="0">
                <a:latin typeface="Arial"/>
                <a:cs typeface="Arial"/>
              </a:rPr>
              <a:t> </a:t>
            </a:r>
            <a:r>
              <a:rPr sz="800" spc="20" dirty="0">
                <a:latin typeface="Tahoma"/>
                <a:cs typeface="Tahoma"/>
              </a:rPr>
              <a:t>=</a:t>
            </a:r>
            <a:endParaRPr sz="800">
              <a:latin typeface="Tahoma"/>
              <a:cs typeface="Tahoma"/>
            </a:endParaRPr>
          </a:p>
          <a:p>
            <a:pPr marR="30480" algn="r">
              <a:lnSpc>
                <a:spcPts val="790"/>
              </a:lnSpc>
            </a:pPr>
            <a:r>
              <a:rPr sz="800" spc="95" dirty="0">
                <a:latin typeface="Tahoma"/>
                <a:cs typeface="Tahoma"/>
              </a:rPr>
              <a:t>Σ</a:t>
            </a:r>
            <a:r>
              <a:rPr sz="900" i="1" spc="142" baseline="23148" dirty="0">
                <a:latin typeface="Arial"/>
                <a:cs typeface="Arial"/>
              </a:rPr>
              <a:t>K</a:t>
            </a:r>
            <a:r>
              <a:rPr sz="900" i="1" spc="697" baseline="23148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e</a:t>
            </a:r>
            <a:r>
              <a:rPr sz="900" i="1" spc="-37" baseline="27777" dirty="0">
                <a:latin typeface="Arial"/>
                <a:cs typeface="Arial"/>
              </a:rPr>
              <a:t>z</a:t>
            </a:r>
            <a:r>
              <a:rPr sz="750" i="1" spc="-37" baseline="22222" dirty="0">
                <a:latin typeface="Arial"/>
                <a:cs typeface="Arial"/>
              </a:rPr>
              <a:t>j</a:t>
            </a:r>
            <a:endParaRPr sz="750" baseline="22222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71324" y="1911247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ahoma"/>
                <a:cs typeface="Tahoma"/>
              </a:rPr>
              <a:t>(7)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Model</a:t>
            </a:r>
            <a:r>
              <a:rPr spc="70" dirty="0"/>
              <a:t> </a:t>
            </a:r>
            <a:r>
              <a:rPr spc="-25" dirty="0"/>
              <a:t>Architecture</a:t>
            </a:r>
            <a:r>
              <a:rPr spc="70" dirty="0"/>
              <a:t> </a:t>
            </a:r>
            <a:r>
              <a:rPr dirty="0"/>
              <a:t>-</a:t>
            </a:r>
            <a:r>
              <a:rPr spc="75" dirty="0"/>
              <a:t> </a:t>
            </a:r>
            <a:r>
              <a:rPr spc="-10" dirty="0"/>
              <a:t>Basic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21282"/>
            <a:ext cx="5473065" cy="7480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first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network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will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consist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three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(3)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convolution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units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with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Arial"/>
                <a:cs typeface="Arial"/>
              </a:rPr>
              <a:t>Convolutional</a:t>
            </a:r>
            <a:r>
              <a:rPr sz="800" b="1" spc="5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1D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Layer</a:t>
            </a:r>
            <a:r>
              <a:rPr sz="800" b="1" spc="5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for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(1)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dimensional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data, </a:t>
            </a:r>
            <a:r>
              <a:rPr sz="800" b="1" dirty="0">
                <a:latin typeface="Arial"/>
                <a:cs typeface="Arial"/>
              </a:rPr>
              <a:t>Batch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Normalization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Layer</a:t>
            </a:r>
            <a:r>
              <a:rPr sz="800" spc="-30" dirty="0">
                <a:latin typeface="Tahoma"/>
                <a:cs typeface="Tahoma"/>
              </a:rPr>
              <a:t>,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Max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Pooling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1D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Layer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with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max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pooling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size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two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(2).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fully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connected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layer </a:t>
            </a:r>
            <a:r>
              <a:rPr sz="800" dirty="0">
                <a:latin typeface="Tahoma"/>
                <a:cs typeface="Tahoma"/>
              </a:rPr>
              <a:t>will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consist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Dropout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Layer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with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30%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input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units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to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removed,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Arial"/>
                <a:cs typeface="Arial"/>
              </a:rPr>
              <a:t>Global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Average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Pooling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1D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Layer</a:t>
            </a:r>
            <a:r>
              <a:rPr sz="800" b="1" spc="5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a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Arial"/>
                <a:cs typeface="Arial"/>
              </a:rPr>
              <a:t>Dense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Layer</a:t>
            </a:r>
            <a:r>
              <a:rPr sz="800" spc="-25" dirty="0">
                <a:latin typeface="Tahoma"/>
                <a:cs typeface="Tahoma"/>
              </a:rPr>
              <a:t>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three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(3) convolutional </a:t>
            </a:r>
            <a:r>
              <a:rPr sz="800" spc="-20" dirty="0">
                <a:latin typeface="Tahoma"/>
                <a:cs typeface="Tahoma"/>
              </a:rPr>
              <a:t>layers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will all </a:t>
            </a:r>
            <a:r>
              <a:rPr sz="800" spc="-10" dirty="0">
                <a:latin typeface="Tahoma"/>
                <a:cs typeface="Tahoma"/>
              </a:rPr>
              <a:t>have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 </a:t>
            </a:r>
            <a:r>
              <a:rPr sz="800" b="1" spc="-30" dirty="0">
                <a:latin typeface="Arial"/>
                <a:cs typeface="Arial"/>
              </a:rPr>
              <a:t>kernel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size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8, </a:t>
            </a:r>
            <a:r>
              <a:rPr sz="800" b="1" spc="-20" dirty="0">
                <a:latin typeface="Arial"/>
                <a:cs typeface="Arial"/>
              </a:rPr>
              <a:t>filters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of 32,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16, and 4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 </a:t>
            </a:r>
            <a:r>
              <a:rPr sz="800" spc="-10" dirty="0">
                <a:latin typeface="Tahoma"/>
                <a:cs typeface="Tahoma"/>
              </a:rPr>
              <a:t>descending order,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implements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Rectified</a:t>
            </a:r>
            <a:r>
              <a:rPr sz="800" i="1" spc="4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Linear</a:t>
            </a:r>
            <a:r>
              <a:rPr sz="800" i="1" spc="4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Units</a:t>
            </a:r>
            <a:r>
              <a:rPr sz="800" i="1" spc="4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(ReLU)</a:t>
            </a:r>
            <a:r>
              <a:rPr sz="800" i="1" spc="6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(eq.</a:t>
            </a:r>
            <a:r>
              <a:rPr sz="800" i="1" spc="14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  <a:hlinkClick r:id="rId2" action="ppaction://hlinksldjump"/>
              </a:rPr>
              <a:t>5)</a:t>
            </a:r>
            <a:r>
              <a:rPr sz="800" i="1" spc="6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activation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function.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figure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shows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details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the </a:t>
            </a:r>
            <a:r>
              <a:rPr sz="800" dirty="0">
                <a:latin typeface="Tahoma"/>
                <a:cs typeface="Tahoma"/>
              </a:rPr>
              <a:t>first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60" dirty="0">
                <a:latin typeface="Tahoma"/>
                <a:cs typeface="Tahoma"/>
              </a:rPr>
              <a:t>CNN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architecture.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02" y="1562544"/>
            <a:ext cx="3698875" cy="12242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Model</a:t>
            </a:r>
            <a:r>
              <a:rPr spc="70" dirty="0"/>
              <a:t> </a:t>
            </a:r>
            <a:r>
              <a:rPr spc="-25" dirty="0"/>
              <a:t>Architecture</a:t>
            </a:r>
            <a:r>
              <a:rPr spc="70" dirty="0"/>
              <a:t> </a:t>
            </a:r>
            <a:r>
              <a:rPr dirty="0"/>
              <a:t>-</a:t>
            </a:r>
            <a:r>
              <a:rPr spc="75" dirty="0"/>
              <a:t> </a:t>
            </a:r>
            <a:r>
              <a:rPr spc="-10" dirty="0"/>
              <a:t>Final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21282"/>
            <a:ext cx="5509260" cy="7480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second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network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will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consist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three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(3)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convolution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units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with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Arial"/>
                <a:cs typeface="Arial"/>
              </a:rPr>
              <a:t>Convolutional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1D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Layer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for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(1)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dimensional </a:t>
            </a:r>
            <a:r>
              <a:rPr sz="800" dirty="0">
                <a:latin typeface="Tahoma"/>
                <a:cs typeface="Tahoma"/>
              </a:rPr>
              <a:t>data,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Batch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Normalization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Layer</a:t>
            </a:r>
            <a:r>
              <a:rPr sz="800" spc="-30" dirty="0">
                <a:latin typeface="Tahoma"/>
                <a:cs typeface="Tahoma"/>
              </a:rPr>
              <a:t>,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Max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Pooling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1D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Layer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with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max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pooling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size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two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(2)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as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first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35" dirty="0">
                <a:latin typeface="Tahoma"/>
                <a:cs typeface="Tahoma"/>
              </a:rPr>
              <a:t>CNN </a:t>
            </a:r>
            <a:r>
              <a:rPr sz="800" dirty="0">
                <a:latin typeface="Tahoma"/>
                <a:cs typeface="Tahoma"/>
              </a:rPr>
              <a:t>architecture.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fully </a:t>
            </a:r>
            <a:r>
              <a:rPr sz="800" spc="-10" dirty="0">
                <a:latin typeface="Tahoma"/>
                <a:cs typeface="Tahoma"/>
              </a:rPr>
              <a:t>connected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layer</a:t>
            </a:r>
            <a:r>
              <a:rPr sz="800" dirty="0">
                <a:latin typeface="Tahoma"/>
                <a:cs typeface="Tahoma"/>
              </a:rPr>
              <a:t> will consist of a </a:t>
            </a:r>
            <a:r>
              <a:rPr sz="800" b="1" dirty="0">
                <a:latin typeface="Arial"/>
                <a:cs typeface="Arial"/>
              </a:rPr>
              <a:t>Flatten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Layer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and two (2) </a:t>
            </a:r>
            <a:r>
              <a:rPr sz="800" b="1" spc="-25" dirty="0">
                <a:latin typeface="Arial"/>
                <a:cs typeface="Arial"/>
              </a:rPr>
              <a:t>Dense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40" dirty="0">
                <a:latin typeface="Arial"/>
                <a:cs typeface="Arial"/>
              </a:rPr>
              <a:t>Layers</a:t>
            </a:r>
            <a:r>
              <a:rPr sz="800" spc="-40" dirty="0">
                <a:latin typeface="Tahoma"/>
                <a:cs typeface="Tahoma"/>
              </a:rPr>
              <a:t>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three </a:t>
            </a:r>
            <a:r>
              <a:rPr sz="800" spc="-25" dirty="0">
                <a:latin typeface="Tahoma"/>
                <a:cs typeface="Tahoma"/>
              </a:rPr>
              <a:t>(3) </a:t>
            </a:r>
            <a:r>
              <a:rPr sz="800" dirty="0">
                <a:latin typeface="Tahoma"/>
                <a:cs typeface="Tahoma"/>
              </a:rPr>
              <a:t>convolutional </a:t>
            </a:r>
            <a:r>
              <a:rPr sz="800" spc="-20" dirty="0">
                <a:latin typeface="Tahoma"/>
                <a:cs typeface="Tahoma"/>
              </a:rPr>
              <a:t>layers</a:t>
            </a:r>
            <a:r>
              <a:rPr sz="800" dirty="0">
                <a:latin typeface="Tahoma"/>
                <a:cs typeface="Tahoma"/>
              </a:rPr>
              <a:t> will all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have</a:t>
            </a:r>
            <a:r>
              <a:rPr sz="800" dirty="0">
                <a:latin typeface="Tahoma"/>
                <a:cs typeface="Tahoma"/>
              </a:rPr>
              <a:t> a </a:t>
            </a:r>
            <a:r>
              <a:rPr sz="800" b="1" spc="-30" dirty="0">
                <a:latin typeface="Arial"/>
                <a:cs typeface="Arial"/>
              </a:rPr>
              <a:t>kernel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size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8, </a:t>
            </a:r>
            <a:r>
              <a:rPr sz="800" b="1" spc="-20" dirty="0">
                <a:latin typeface="Arial"/>
                <a:cs typeface="Arial"/>
              </a:rPr>
              <a:t>filters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of 16,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8, and 4 in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descending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order,</a:t>
            </a:r>
            <a:r>
              <a:rPr sz="800" dirty="0">
                <a:latin typeface="Tahoma"/>
                <a:cs typeface="Tahoma"/>
              </a:rPr>
              <a:t> and </a:t>
            </a:r>
            <a:r>
              <a:rPr sz="800" spc="-10" dirty="0">
                <a:latin typeface="Tahoma"/>
                <a:cs typeface="Tahoma"/>
              </a:rPr>
              <a:t>use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i="1" spc="-20" dirty="0">
                <a:latin typeface="Arial"/>
                <a:cs typeface="Arial"/>
              </a:rPr>
              <a:t>ReLU</a:t>
            </a:r>
            <a:r>
              <a:rPr sz="800" i="1" spc="50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activation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function.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first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dense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layers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will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have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512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units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use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ReLU</a:t>
            </a:r>
            <a:r>
              <a:rPr sz="800" i="1" spc="10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activation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function.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figure </a:t>
            </a:r>
            <a:r>
              <a:rPr sz="800" spc="-25" dirty="0">
                <a:latin typeface="Tahoma"/>
                <a:cs typeface="Tahoma"/>
              </a:rPr>
              <a:t>shows</a:t>
            </a:r>
            <a:r>
              <a:rPr sz="800" dirty="0">
                <a:latin typeface="Tahoma"/>
                <a:cs typeface="Tahoma"/>
              </a:rPr>
              <a:t> the details of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spc="-10" dirty="0">
                <a:latin typeface="Tahoma"/>
                <a:cs typeface="Tahoma"/>
              </a:rPr>
              <a:t>second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60" dirty="0">
                <a:latin typeface="Tahoma"/>
                <a:cs typeface="Tahoma"/>
              </a:rPr>
              <a:t>CNN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architecture.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147" y="1563814"/>
            <a:ext cx="3512185" cy="12217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01368"/>
            <a:ext cx="5507355" cy="628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Arial"/>
                <a:cs typeface="Arial"/>
              </a:rPr>
              <a:t>genomic-benchmarks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Python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package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from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Arial"/>
                <a:cs typeface="Arial"/>
              </a:rPr>
              <a:t>ML-Bioinfo-</a:t>
            </a:r>
            <a:r>
              <a:rPr sz="800" b="1" dirty="0">
                <a:latin typeface="Arial"/>
                <a:cs typeface="Arial"/>
              </a:rPr>
              <a:t>CEITEC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is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GitHub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reposito</a:t>
            </a:r>
            <a:r>
              <a:rPr sz="800" spc="-20" dirty="0">
                <a:latin typeface="Tahoma"/>
                <a:cs typeface="Tahoma"/>
                <a:hlinkClick r:id="rId2" action="ppaction://hlinksldjump"/>
              </a:rPr>
              <a:t>ry[6]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that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collects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benchmarks </a:t>
            </a:r>
            <a:r>
              <a:rPr sz="800" dirty="0">
                <a:latin typeface="Tahoma"/>
                <a:cs typeface="Tahoma"/>
              </a:rPr>
              <a:t>for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genomic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sequence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classification.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repository</a:t>
            </a:r>
            <a:r>
              <a:rPr sz="800" dirty="0">
                <a:latin typeface="Tahoma"/>
                <a:cs typeface="Tahoma"/>
              </a:rPr>
              <a:t> includes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datasets,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source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code,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helper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functions,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examples.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spc="-10" dirty="0">
                <a:latin typeface="Tahoma"/>
                <a:cs typeface="Tahoma"/>
              </a:rPr>
              <a:t>repository</a:t>
            </a:r>
            <a:r>
              <a:rPr sz="800" dirty="0">
                <a:latin typeface="Tahoma"/>
                <a:cs typeface="Tahoma"/>
              </a:rPr>
              <a:t> is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also </a:t>
            </a:r>
            <a:r>
              <a:rPr sz="800" spc="-10" dirty="0">
                <a:latin typeface="Tahoma"/>
                <a:cs typeface="Tahoma"/>
              </a:rPr>
              <a:t>available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via </a:t>
            </a:r>
            <a:r>
              <a:rPr sz="800" i="1" dirty="0">
                <a:latin typeface="Arial"/>
                <a:cs typeface="Arial"/>
              </a:rPr>
              <a:t>PIP</a:t>
            </a:r>
            <a:r>
              <a:rPr sz="800" i="1" spc="9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installation.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original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implementation of 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datasets</a:t>
            </a:r>
            <a:r>
              <a:rPr sz="800" dirty="0">
                <a:latin typeface="Tahoma"/>
                <a:cs typeface="Tahoma"/>
              </a:rPr>
              <a:t> and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example</a:t>
            </a:r>
            <a:r>
              <a:rPr sz="800" dirty="0">
                <a:latin typeface="Tahoma"/>
                <a:cs typeface="Tahoma"/>
              </a:rPr>
              <a:t> code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do </a:t>
            </a:r>
            <a:r>
              <a:rPr sz="800" spc="-25" dirty="0">
                <a:latin typeface="Tahoma"/>
                <a:cs typeface="Tahoma"/>
              </a:rPr>
              <a:t>not </a:t>
            </a:r>
            <a:r>
              <a:rPr sz="800" spc="-10" dirty="0">
                <a:latin typeface="Tahoma"/>
                <a:cs typeface="Tahoma"/>
              </a:rPr>
              <a:t>use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 validation set.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Figure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  <a:hlinkClick r:id="rId3" action="ppaction://hlinksldjump"/>
              </a:rPr>
              <a:t>1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shows</a:t>
            </a:r>
            <a:r>
              <a:rPr sz="800" dirty="0">
                <a:latin typeface="Tahoma"/>
                <a:cs typeface="Tahoma"/>
              </a:rPr>
              <a:t> 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initial information prototype dataset.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Figure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2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shows</a:t>
            </a:r>
            <a:r>
              <a:rPr sz="800" dirty="0">
                <a:latin typeface="Tahoma"/>
                <a:cs typeface="Tahoma"/>
              </a:rPr>
              <a:t> 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type of 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training dataset.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806" y="1818421"/>
            <a:ext cx="1095256" cy="3285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4265" y="2229200"/>
            <a:ext cx="16173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0C264C"/>
                </a:solidFill>
                <a:latin typeface="Arial"/>
                <a:cs typeface="Arial"/>
              </a:rPr>
              <a:t>Figure:</a:t>
            </a:r>
            <a:r>
              <a:rPr sz="900" spc="20" dirty="0">
                <a:solidFill>
                  <a:srgbClr val="0C264C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Prototype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Dataset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7523" y="2450616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Tahoma"/>
                <a:cs typeface="Tahoma"/>
              </a:rPr>
              <a:t>‘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8620" y="1706094"/>
            <a:ext cx="1096474" cy="6420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66794" y="2439576"/>
            <a:ext cx="10598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0C264C"/>
                </a:solidFill>
                <a:latin typeface="Arial"/>
                <a:cs typeface="Arial"/>
              </a:rPr>
              <a:t>Figure:</a:t>
            </a:r>
            <a:r>
              <a:rPr sz="900" spc="-15" dirty="0">
                <a:solidFill>
                  <a:srgbClr val="0C264C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Dataset </a:t>
            </a:r>
            <a:r>
              <a:rPr sz="900" spc="-20" dirty="0">
                <a:latin typeface="Arial"/>
                <a:cs typeface="Arial"/>
              </a:rPr>
              <a:t>Type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Impl:</a:t>
            </a:r>
            <a:r>
              <a:rPr spc="190" dirty="0"/>
              <a:t> </a:t>
            </a:r>
            <a:r>
              <a:rPr spc="-55" dirty="0"/>
              <a:t>Dependencies</a:t>
            </a:r>
          </a:p>
        </p:txBody>
      </p:sp>
      <p:sp>
        <p:nvSpPr>
          <p:cNvPr id="3" name="object 3"/>
          <p:cNvSpPr/>
          <p:nvPr/>
        </p:nvSpPr>
        <p:spPr>
          <a:xfrm>
            <a:off x="1135430" y="82480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4780" y="112847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03260" y="112847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8988" y="473888"/>
            <a:ext cx="1691005" cy="25552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74625" indent="-136525">
              <a:lnSpc>
                <a:spcPct val="100000"/>
              </a:lnSpc>
              <a:spcBef>
                <a:spcPts val="285"/>
              </a:spcBef>
              <a:buClr>
                <a:srgbClr val="0C264C"/>
              </a:buClr>
              <a:buFont typeface="Arial"/>
              <a:buChar char="•"/>
              <a:tabLst>
                <a:tab pos="174625" algn="l"/>
              </a:tabLst>
            </a:pPr>
            <a:r>
              <a:rPr sz="1100" dirty="0">
                <a:latin typeface="Tahoma"/>
                <a:cs typeface="Tahoma"/>
              </a:rPr>
              <a:t>PIP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Install</a:t>
            </a:r>
            <a:endParaRPr sz="1100">
              <a:latin typeface="Tahoma"/>
              <a:cs typeface="Tahoma"/>
            </a:endParaRPr>
          </a:p>
          <a:p>
            <a:pPr marL="451484" lvl="1" indent="-130810">
              <a:lnSpc>
                <a:spcPts val="1200"/>
              </a:lnSpc>
              <a:spcBef>
                <a:spcPts val="175"/>
              </a:spcBef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30" dirty="0">
                <a:latin typeface="Tahoma"/>
                <a:cs typeface="Tahoma"/>
              </a:rPr>
              <a:t>genomic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benchmarks</a:t>
            </a:r>
            <a:endParaRPr sz="1000">
              <a:latin typeface="Tahoma"/>
              <a:cs typeface="Tahoma"/>
            </a:endParaRPr>
          </a:p>
          <a:p>
            <a:pPr marL="451484" lvl="1" indent="-130810">
              <a:lnSpc>
                <a:spcPts val="1195"/>
              </a:lnSpc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50" dirty="0">
                <a:latin typeface="Tahoma"/>
                <a:cs typeface="Tahoma"/>
              </a:rPr>
              <a:t>mermaid-</a:t>
            </a:r>
            <a:r>
              <a:rPr sz="1000" spc="-25" dirty="0">
                <a:latin typeface="Tahoma"/>
                <a:cs typeface="Tahoma"/>
              </a:rPr>
              <a:t>py</a:t>
            </a:r>
            <a:endParaRPr sz="1000">
              <a:latin typeface="Tahoma"/>
              <a:cs typeface="Tahoma"/>
            </a:endParaRPr>
          </a:p>
          <a:p>
            <a:pPr marL="451484" lvl="1" indent="-130810">
              <a:lnSpc>
                <a:spcPts val="1200"/>
              </a:lnSpc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30" dirty="0">
                <a:latin typeface="Tahoma"/>
                <a:cs typeface="Tahoma"/>
              </a:rPr>
              <a:t>jupyter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capture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output</a:t>
            </a:r>
            <a:endParaRPr sz="1000">
              <a:latin typeface="Tahoma"/>
              <a:cs typeface="Tahoma"/>
            </a:endParaRPr>
          </a:p>
          <a:p>
            <a:pPr marL="174625" indent="-136525">
              <a:lnSpc>
                <a:spcPct val="100000"/>
              </a:lnSpc>
              <a:spcBef>
                <a:spcPts val="195"/>
              </a:spcBef>
              <a:buClr>
                <a:srgbClr val="0C264C"/>
              </a:buClr>
              <a:buFont typeface="Arial"/>
              <a:buChar char="•"/>
              <a:tabLst>
                <a:tab pos="174625" algn="l"/>
              </a:tabLst>
            </a:pPr>
            <a:r>
              <a:rPr sz="1100" spc="-10" dirty="0">
                <a:latin typeface="Tahoma"/>
                <a:cs typeface="Tahoma"/>
              </a:rPr>
              <a:t>Imports</a:t>
            </a:r>
            <a:endParaRPr sz="1100">
              <a:latin typeface="Tahoma"/>
              <a:cs typeface="Tahoma"/>
            </a:endParaRPr>
          </a:p>
          <a:p>
            <a:pPr marL="451484" lvl="1" indent="-130810">
              <a:lnSpc>
                <a:spcPts val="1200"/>
              </a:lnSpc>
              <a:spcBef>
                <a:spcPts val="175"/>
              </a:spcBef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10" dirty="0">
                <a:latin typeface="Tahoma"/>
                <a:cs typeface="Tahoma"/>
              </a:rPr>
              <a:t>pathlib</a:t>
            </a:r>
            <a:endParaRPr sz="1000">
              <a:latin typeface="Tahoma"/>
              <a:cs typeface="Tahoma"/>
            </a:endParaRPr>
          </a:p>
          <a:p>
            <a:pPr marL="451484" lvl="1" indent="-130810">
              <a:lnSpc>
                <a:spcPts val="1145"/>
              </a:lnSpc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25" dirty="0">
                <a:latin typeface="Tahoma"/>
                <a:cs typeface="Tahoma"/>
              </a:rPr>
              <a:t>os</a:t>
            </a:r>
            <a:endParaRPr sz="1000">
              <a:latin typeface="Tahoma"/>
              <a:cs typeface="Tahoma"/>
            </a:endParaRPr>
          </a:p>
          <a:p>
            <a:pPr marL="451484" lvl="1" indent="-130810">
              <a:lnSpc>
                <a:spcPts val="1150"/>
              </a:lnSpc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10" dirty="0">
                <a:latin typeface="Tahoma"/>
                <a:cs typeface="Tahoma"/>
              </a:rPr>
              <a:t>keras</a:t>
            </a:r>
            <a:endParaRPr sz="1000">
              <a:latin typeface="Tahoma"/>
              <a:cs typeface="Tahoma"/>
            </a:endParaRPr>
          </a:p>
          <a:p>
            <a:pPr marL="730250" lvl="2" indent="-127635">
              <a:lnSpc>
                <a:spcPct val="100000"/>
              </a:lnSpc>
              <a:spcBef>
                <a:spcPts val="195"/>
              </a:spcBef>
              <a:buClr>
                <a:srgbClr val="0C264C"/>
              </a:buClr>
              <a:buFont typeface="Arial"/>
              <a:buChar char="•"/>
              <a:tabLst>
                <a:tab pos="730250" algn="l"/>
              </a:tabLst>
            </a:pPr>
            <a:r>
              <a:rPr sz="900" spc="-10" dirty="0">
                <a:latin typeface="Arial"/>
                <a:cs typeface="Arial"/>
              </a:rPr>
              <a:t>backend</a:t>
            </a:r>
            <a:endParaRPr sz="900">
              <a:latin typeface="Arial"/>
              <a:cs typeface="Arial"/>
            </a:endParaRPr>
          </a:p>
          <a:p>
            <a:pPr marL="730250" lvl="2" indent="-127635">
              <a:lnSpc>
                <a:spcPct val="100000"/>
              </a:lnSpc>
              <a:spcBef>
                <a:spcPts val="15"/>
              </a:spcBef>
              <a:buClr>
                <a:srgbClr val="0C264C"/>
              </a:buClr>
              <a:buFont typeface="Arial"/>
              <a:buChar char="•"/>
              <a:tabLst>
                <a:tab pos="730250" algn="l"/>
              </a:tabLst>
            </a:pPr>
            <a:r>
              <a:rPr sz="900" spc="-10" dirty="0">
                <a:latin typeface="Arial"/>
                <a:cs typeface="Arial"/>
              </a:rPr>
              <a:t>layers</a:t>
            </a:r>
            <a:endParaRPr sz="900">
              <a:latin typeface="Arial"/>
              <a:cs typeface="Arial"/>
            </a:endParaRPr>
          </a:p>
          <a:p>
            <a:pPr marL="730250" lvl="2" indent="-127635">
              <a:lnSpc>
                <a:spcPct val="100000"/>
              </a:lnSpc>
              <a:spcBef>
                <a:spcPts val="15"/>
              </a:spcBef>
              <a:buClr>
                <a:srgbClr val="0C264C"/>
              </a:buClr>
              <a:buFont typeface="Arial"/>
              <a:buChar char="•"/>
              <a:tabLst>
                <a:tab pos="730250" algn="l"/>
              </a:tabLst>
            </a:pPr>
            <a:r>
              <a:rPr sz="900" spc="-10" dirty="0">
                <a:latin typeface="Arial"/>
                <a:cs typeface="Arial"/>
              </a:rPr>
              <a:t>losses</a:t>
            </a:r>
            <a:endParaRPr sz="900">
              <a:latin typeface="Arial"/>
              <a:cs typeface="Arial"/>
            </a:endParaRPr>
          </a:p>
          <a:p>
            <a:pPr marL="730250" lvl="2" indent="-127635">
              <a:lnSpc>
                <a:spcPct val="100000"/>
              </a:lnSpc>
              <a:spcBef>
                <a:spcPts val="20"/>
              </a:spcBef>
              <a:buClr>
                <a:srgbClr val="0C264C"/>
              </a:buClr>
              <a:buFont typeface="Arial"/>
              <a:buChar char="•"/>
              <a:tabLst>
                <a:tab pos="730250" algn="l"/>
              </a:tabLst>
            </a:pPr>
            <a:r>
              <a:rPr sz="900" spc="-10" dirty="0">
                <a:latin typeface="Arial"/>
                <a:cs typeface="Arial"/>
              </a:rPr>
              <a:t>models</a:t>
            </a:r>
            <a:endParaRPr sz="900">
              <a:latin typeface="Arial"/>
              <a:cs typeface="Arial"/>
            </a:endParaRPr>
          </a:p>
          <a:p>
            <a:pPr marL="730250" lvl="2" indent="-127635">
              <a:lnSpc>
                <a:spcPct val="100000"/>
              </a:lnSpc>
              <a:spcBef>
                <a:spcPts val="15"/>
              </a:spcBef>
              <a:buClr>
                <a:srgbClr val="0C264C"/>
              </a:buClr>
              <a:buFont typeface="Arial"/>
              <a:buChar char="•"/>
              <a:tabLst>
                <a:tab pos="730250" algn="l"/>
              </a:tabLst>
            </a:pPr>
            <a:r>
              <a:rPr sz="900" spc="-10" dirty="0">
                <a:latin typeface="Arial"/>
                <a:cs typeface="Arial"/>
              </a:rPr>
              <a:t>metrics</a:t>
            </a:r>
            <a:endParaRPr sz="900">
              <a:latin typeface="Arial"/>
              <a:cs typeface="Arial"/>
            </a:endParaRPr>
          </a:p>
          <a:p>
            <a:pPr marL="451484" lvl="1" indent="-130810">
              <a:lnSpc>
                <a:spcPts val="1200"/>
              </a:lnSpc>
              <a:spcBef>
                <a:spcPts val="215"/>
              </a:spcBef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10" dirty="0">
                <a:latin typeface="Tahoma"/>
                <a:cs typeface="Tahoma"/>
              </a:rPr>
              <a:t>matplotlib</a:t>
            </a:r>
            <a:endParaRPr sz="1000">
              <a:latin typeface="Tahoma"/>
              <a:cs typeface="Tahoma"/>
            </a:endParaRPr>
          </a:p>
          <a:p>
            <a:pPr marL="451484" lvl="1" indent="-130810">
              <a:lnSpc>
                <a:spcPts val="1195"/>
              </a:lnSpc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10" dirty="0">
                <a:latin typeface="Tahoma"/>
                <a:cs typeface="Tahoma"/>
              </a:rPr>
              <a:t>numpy</a:t>
            </a:r>
            <a:endParaRPr sz="1000">
              <a:latin typeface="Tahoma"/>
              <a:cs typeface="Tahoma"/>
            </a:endParaRPr>
          </a:p>
          <a:p>
            <a:pPr marL="451484" lvl="1" indent="-130810">
              <a:lnSpc>
                <a:spcPts val="1200"/>
              </a:lnSpc>
              <a:buClr>
                <a:srgbClr val="0C264C"/>
              </a:buClr>
              <a:buFont typeface="Arial"/>
              <a:buChar char="•"/>
              <a:tabLst>
                <a:tab pos="451484" algn="l"/>
              </a:tabLst>
            </a:pPr>
            <a:r>
              <a:rPr sz="1000" spc="-10" dirty="0">
                <a:latin typeface="Tahoma"/>
                <a:cs typeface="Tahoma"/>
              </a:rPr>
              <a:t>tensorflow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Impl:</a:t>
            </a:r>
            <a:r>
              <a:rPr spc="160" dirty="0"/>
              <a:t> </a:t>
            </a:r>
            <a:r>
              <a:rPr dirty="0"/>
              <a:t>Dataset</a:t>
            </a:r>
            <a:r>
              <a:rPr spc="25" dirty="0"/>
              <a:t> </a:t>
            </a:r>
            <a:r>
              <a:rPr spc="-40" dirty="0"/>
              <a:t>Download</a:t>
            </a:r>
          </a:p>
        </p:txBody>
      </p:sp>
      <p:sp>
        <p:nvSpPr>
          <p:cNvPr id="3" name="object 3"/>
          <p:cNvSpPr/>
          <p:nvPr/>
        </p:nvSpPr>
        <p:spPr>
          <a:xfrm>
            <a:off x="551408" y="136961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334" y="136961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165" y="145818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230" y="145818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22336" y="145818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4763" y="154675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8132" y="154675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8248" y="163532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8857" y="1635328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0763" y="1723897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36040" y="1723897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77366" y="1989594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8292" y="1989594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8863" y="2078164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45845" y="2166734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5844" y="853349"/>
            <a:ext cx="5405120" cy="1521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Downloading the datasets from the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genomic-</a:t>
            </a:r>
            <a:r>
              <a:rPr sz="800" i="1" spc="-20" dirty="0">
                <a:latin typeface="Arial"/>
                <a:cs typeface="Arial"/>
              </a:rPr>
              <a:t>benchmarks</a:t>
            </a:r>
            <a:r>
              <a:rPr sz="800" i="1" spc="8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Python </a:t>
            </a:r>
            <a:r>
              <a:rPr sz="800" spc="-10" dirty="0">
                <a:latin typeface="Tahoma"/>
                <a:cs typeface="Tahoma"/>
              </a:rPr>
              <a:t>package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creates</a:t>
            </a:r>
            <a:r>
              <a:rPr sz="800" dirty="0">
                <a:latin typeface="Tahoma"/>
                <a:cs typeface="Tahoma"/>
              </a:rPr>
              <a:t> a hidden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folder in your </a:t>
            </a:r>
            <a:r>
              <a:rPr sz="800" spc="-10" dirty="0">
                <a:latin typeface="Tahoma"/>
                <a:cs typeface="Tahoma"/>
              </a:rPr>
              <a:t>working </a:t>
            </a:r>
            <a:r>
              <a:rPr sz="800" dirty="0">
                <a:latin typeface="Tahoma"/>
                <a:cs typeface="Tahoma"/>
              </a:rPr>
              <a:t>directory with the setup in code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will only </a:t>
            </a:r>
            <a:r>
              <a:rPr sz="800" spc="-10" dirty="0">
                <a:latin typeface="Tahoma"/>
                <a:cs typeface="Tahoma"/>
              </a:rPr>
              <a:t>download</a:t>
            </a:r>
            <a:r>
              <a:rPr sz="800" dirty="0">
                <a:latin typeface="Tahoma"/>
                <a:cs typeface="Tahoma"/>
              </a:rPr>
              <a:t> a </a:t>
            </a:r>
            <a:r>
              <a:rPr sz="800" spc="-20" dirty="0">
                <a:latin typeface="Tahoma"/>
                <a:cs typeface="Tahoma"/>
              </a:rPr>
              <a:t>non-</a:t>
            </a:r>
            <a:r>
              <a:rPr sz="800" dirty="0">
                <a:latin typeface="Tahoma"/>
                <a:cs typeface="Tahoma"/>
              </a:rPr>
              <a:t>existent dataset.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info command will produce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information </a:t>
            </a:r>
            <a:r>
              <a:rPr sz="800" dirty="0">
                <a:latin typeface="Tahoma"/>
                <a:cs typeface="Tahoma"/>
              </a:rPr>
              <a:t>about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dataset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from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metadata.yaml</a:t>
            </a:r>
            <a:r>
              <a:rPr sz="800" i="1" spc="90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file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that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accompanies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each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dataset.</a:t>
            </a:r>
            <a:endParaRPr sz="800">
              <a:latin typeface="Tahoma"/>
              <a:cs typeface="Tahoma"/>
            </a:endParaRPr>
          </a:p>
          <a:p>
            <a:pPr marL="28575">
              <a:lnSpc>
                <a:spcPts val="710"/>
              </a:lnSpc>
              <a:spcBef>
                <a:spcPts val="500"/>
              </a:spcBef>
            </a:pP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d</a:t>
            </a:r>
            <a:r>
              <a:rPr sz="600" spc="32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3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254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[</a:t>
            </a:r>
            <a:endParaRPr sz="600">
              <a:latin typeface="Tahoma"/>
              <a:cs typeface="Tahoma"/>
            </a:endParaRPr>
          </a:p>
          <a:p>
            <a:pPr marL="210185" marR="3649979">
              <a:lnSpc>
                <a:spcPts val="700"/>
              </a:lnSpc>
              <a:spcBef>
                <a:spcPts val="25"/>
              </a:spcBef>
            </a:pP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30" dirty="0">
                <a:latin typeface="Tahoma"/>
                <a:cs typeface="Tahoma"/>
              </a:rPr>
              <a:t>dummy</a:t>
            </a:r>
            <a:r>
              <a:rPr sz="600" spc="260" dirty="0">
                <a:latin typeface="Tahoma"/>
                <a:cs typeface="Tahoma"/>
              </a:rPr>
              <a:t> </a:t>
            </a:r>
            <a:r>
              <a:rPr sz="600" spc="30" dirty="0">
                <a:latin typeface="Tahoma"/>
                <a:cs typeface="Tahoma"/>
              </a:rPr>
              <a:t>mouse</a:t>
            </a:r>
            <a:r>
              <a:rPr sz="600" spc="254" dirty="0">
                <a:latin typeface="Tahoma"/>
                <a:cs typeface="Tahoma"/>
              </a:rPr>
              <a:t> </a:t>
            </a:r>
            <a:r>
              <a:rPr sz="600" spc="30" dirty="0">
                <a:latin typeface="Tahoma"/>
                <a:cs typeface="Tahoma"/>
              </a:rPr>
              <a:t>enhancers</a:t>
            </a:r>
            <a:r>
              <a:rPr sz="600" spc="254" dirty="0">
                <a:latin typeface="Tahoma"/>
                <a:cs typeface="Tahoma"/>
              </a:rPr>
              <a:t> </a:t>
            </a:r>
            <a:r>
              <a:rPr sz="600" spc="30" dirty="0">
                <a:latin typeface="Tahoma"/>
                <a:cs typeface="Tahoma"/>
              </a:rPr>
              <a:t>ensembl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2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,</a:t>
            </a:r>
            <a:r>
              <a:rPr sz="600" spc="75" dirty="0">
                <a:latin typeface="Tahoma"/>
                <a:cs typeface="Tahoma"/>
              </a:rPr>
              <a:t> ”</a:t>
            </a:r>
            <a:r>
              <a:rPr sz="600" spc="-4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h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a</a:t>
            </a:r>
            <a:r>
              <a:rPr sz="600" spc="27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h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</a:t>
            </a:r>
            <a:r>
              <a:rPr sz="600" spc="27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k</a:t>
            </a:r>
            <a:r>
              <a:rPr sz="600" spc="-45" dirty="0">
                <a:latin typeface="Tahoma"/>
                <a:cs typeface="Tahoma"/>
              </a:rPr>
              <a:t> </a:t>
            </a: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-1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,</a:t>
            </a:r>
            <a:endParaRPr sz="600">
              <a:latin typeface="Tahoma"/>
              <a:cs typeface="Tahoma"/>
            </a:endParaRPr>
          </a:p>
          <a:p>
            <a:pPr marL="210185">
              <a:lnSpc>
                <a:spcPts val="665"/>
              </a:lnSpc>
            </a:pP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30" dirty="0">
                <a:latin typeface="Tahoma"/>
                <a:cs typeface="Tahoma"/>
              </a:rPr>
              <a:t>human</a:t>
            </a:r>
            <a:r>
              <a:rPr sz="600" spc="250" dirty="0">
                <a:latin typeface="Tahoma"/>
                <a:cs typeface="Tahoma"/>
              </a:rPr>
              <a:t> </a:t>
            </a:r>
            <a:r>
              <a:rPr sz="600" spc="45" dirty="0">
                <a:latin typeface="Tahoma"/>
                <a:cs typeface="Tahoma"/>
              </a:rPr>
              <a:t>enhancers</a:t>
            </a:r>
            <a:r>
              <a:rPr sz="600" spc="245" dirty="0">
                <a:latin typeface="Tahoma"/>
                <a:cs typeface="Tahoma"/>
              </a:rPr>
              <a:t> </a:t>
            </a:r>
            <a:r>
              <a:rPr sz="600" spc="30" dirty="0">
                <a:latin typeface="Tahoma"/>
                <a:cs typeface="Tahoma"/>
              </a:rPr>
              <a:t>cohn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,</a:t>
            </a:r>
            <a:endParaRPr sz="600">
              <a:latin typeface="Tahoma"/>
              <a:cs typeface="Tahoma"/>
            </a:endParaRPr>
          </a:p>
          <a:p>
            <a:pPr marL="210185">
              <a:lnSpc>
                <a:spcPts val="695"/>
              </a:lnSpc>
            </a:pP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h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m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254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ta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ta</a:t>
            </a:r>
            <a:r>
              <a:rPr sz="600" spc="254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ro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m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te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,</a:t>
            </a:r>
            <a:endParaRPr sz="600">
              <a:latin typeface="Tahoma"/>
              <a:cs typeface="Tahoma"/>
            </a:endParaRPr>
          </a:p>
          <a:p>
            <a:pPr marL="24765">
              <a:lnSpc>
                <a:spcPts val="710"/>
              </a:lnSpc>
            </a:pPr>
            <a:r>
              <a:rPr sz="600" spc="-50" dirty="0">
                <a:latin typeface="Tahoma"/>
                <a:cs typeface="Tahoma"/>
              </a:rPr>
              <a:t>]</a:t>
            </a:r>
            <a:endParaRPr sz="600">
              <a:latin typeface="Tahoma"/>
              <a:cs typeface="Tahoma"/>
            </a:endParaRPr>
          </a:p>
          <a:p>
            <a:pPr marL="24765">
              <a:lnSpc>
                <a:spcPts val="710"/>
              </a:lnSpc>
              <a:spcBef>
                <a:spcPts val="675"/>
              </a:spcBef>
            </a:pPr>
            <a:r>
              <a:rPr sz="600" b="1" dirty="0">
                <a:latin typeface="Arial"/>
                <a:cs typeface="Arial"/>
              </a:rPr>
              <a:t>f</a:t>
            </a:r>
            <a:r>
              <a:rPr sz="600" b="1" spc="-70" dirty="0">
                <a:latin typeface="Arial"/>
                <a:cs typeface="Arial"/>
              </a:rPr>
              <a:t> </a:t>
            </a:r>
            <a:r>
              <a:rPr sz="600" b="1" spc="-45" dirty="0">
                <a:latin typeface="Arial"/>
                <a:cs typeface="Arial"/>
              </a:rPr>
              <a:t>o</a:t>
            </a:r>
            <a:r>
              <a:rPr sz="600" b="1" spc="-6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r</a:t>
            </a:r>
            <a:r>
              <a:rPr sz="600" b="1" spc="425" dirty="0">
                <a:latin typeface="Arial"/>
                <a:cs typeface="Arial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405" dirty="0">
                <a:latin typeface="Tahoma"/>
                <a:cs typeface="Tahoma"/>
              </a:rPr>
              <a:t> </a:t>
            </a:r>
            <a:r>
              <a:rPr sz="600" b="1" spc="-20" dirty="0">
                <a:latin typeface="Arial"/>
                <a:cs typeface="Arial"/>
              </a:rPr>
              <a:t>i</a:t>
            </a:r>
            <a:r>
              <a:rPr sz="600" b="1" spc="-7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n</a:t>
            </a:r>
            <a:r>
              <a:rPr sz="600" b="1" spc="445" dirty="0">
                <a:latin typeface="Arial"/>
                <a:cs typeface="Arial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d</a:t>
            </a:r>
            <a:r>
              <a:rPr sz="600" spc="31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3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5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:</a:t>
            </a:r>
            <a:endParaRPr sz="600">
              <a:latin typeface="Tahoma"/>
              <a:cs typeface="Tahoma"/>
            </a:endParaRPr>
          </a:p>
          <a:p>
            <a:pPr marL="410209" marR="3752850" indent="-187325">
              <a:lnSpc>
                <a:spcPts val="700"/>
              </a:lnSpc>
              <a:spcBef>
                <a:spcPts val="30"/>
              </a:spcBef>
            </a:pPr>
            <a:r>
              <a:rPr sz="600" b="1" spc="-20" dirty="0">
                <a:latin typeface="Arial"/>
                <a:cs typeface="Arial"/>
              </a:rPr>
              <a:t>i</a:t>
            </a:r>
            <a:r>
              <a:rPr sz="600" b="1" spc="-30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f</a:t>
            </a:r>
            <a:r>
              <a:rPr sz="600" b="1" spc="440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not</a:t>
            </a:r>
            <a:r>
              <a:rPr sz="600" b="1" spc="390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</a:t>
            </a:r>
            <a:r>
              <a:rPr sz="600" spc="24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w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d</a:t>
            </a:r>
            <a:r>
              <a:rPr sz="600" spc="-2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20" dirty="0">
                <a:latin typeface="Tahoma"/>
                <a:cs typeface="Tahoma"/>
              </a:rPr>
              <a:t> d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)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:</a:t>
            </a:r>
            <a:r>
              <a:rPr sz="600" spc="50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w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d</a:t>
            </a:r>
            <a:r>
              <a:rPr sz="600" spc="254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ta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2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1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1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  <a:p>
            <a:pPr marL="219075">
              <a:lnSpc>
                <a:spcPts val="665"/>
              </a:lnSpc>
            </a:pPr>
            <a:r>
              <a:rPr sz="600" b="1" spc="-35" dirty="0">
                <a:latin typeface="Arial"/>
                <a:cs typeface="Arial"/>
              </a:rPr>
              <a:t>p</a:t>
            </a:r>
            <a:r>
              <a:rPr sz="600" b="1" spc="-50" dirty="0">
                <a:latin typeface="Arial"/>
                <a:cs typeface="Arial"/>
              </a:rPr>
              <a:t> </a:t>
            </a:r>
            <a:r>
              <a:rPr sz="600" b="1" spc="-25" dirty="0">
                <a:latin typeface="Arial"/>
                <a:cs typeface="Arial"/>
              </a:rPr>
              <a:t>r</a:t>
            </a:r>
            <a:r>
              <a:rPr sz="600" b="1" spc="-50" dirty="0">
                <a:latin typeface="Arial"/>
                <a:cs typeface="Arial"/>
              </a:rPr>
              <a:t> </a:t>
            </a:r>
            <a:r>
              <a:rPr sz="600" b="1" spc="-20" dirty="0">
                <a:latin typeface="Arial"/>
                <a:cs typeface="Arial"/>
              </a:rPr>
              <a:t>i</a:t>
            </a:r>
            <a:r>
              <a:rPr sz="600" b="1" spc="-45" dirty="0">
                <a:latin typeface="Arial"/>
                <a:cs typeface="Arial"/>
              </a:rPr>
              <a:t> </a:t>
            </a:r>
            <a:r>
              <a:rPr sz="600" b="1" spc="-35" dirty="0">
                <a:latin typeface="Arial"/>
                <a:cs typeface="Arial"/>
              </a:rPr>
              <a:t>n</a:t>
            </a:r>
            <a:r>
              <a:rPr sz="600" b="1" spc="-50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t</a:t>
            </a:r>
            <a:r>
              <a:rPr sz="600" b="1" spc="25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o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1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ta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1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,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n=True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)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  <a:p>
            <a:pPr marL="219075">
              <a:lnSpc>
                <a:spcPts val="710"/>
              </a:lnSpc>
            </a:pPr>
            <a:r>
              <a:rPr sz="600" b="1" spc="-35" dirty="0">
                <a:latin typeface="Arial"/>
                <a:cs typeface="Arial"/>
              </a:rPr>
              <a:t>p</a:t>
            </a:r>
            <a:r>
              <a:rPr sz="600" b="1" spc="-55" dirty="0">
                <a:latin typeface="Arial"/>
                <a:cs typeface="Arial"/>
              </a:rPr>
              <a:t> </a:t>
            </a:r>
            <a:r>
              <a:rPr sz="600" b="1" spc="-25" dirty="0">
                <a:latin typeface="Arial"/>
                <a:cs typeface="Arial"/>
              </a:rPr>
              <a:t>r</a:t>
            </a:r>
            <a:r>
              <a:rPr sz="600" b="1" spc="-55" dirty="0">
                <a:latin typeface="Arial"/>
                <a:cs typeface="Arial"/>
              </a:rPr>
              <a:t> </a:t>
            </a:r>
            <a:r>
              <a:rPr sz="600" b="1" spc="-20" dirty="0">
                <a:latin typeface="Arial"/>
                <a:cs typeface="Arial"/>
              </a:rPr>
              <a:t>i</a:t>
            </a:r>
            <a:r>
              <a:rPr sz="600" b="1" spc="-50" dirty="0">
                <a:latin typeface="Arial"/>
                <a:cs typeface="Arial"/>
              </a:rPr>
              <a:t> </a:t>
            </a:r>
            <a:r>
              <a:rPr sz="600" b="1" spc="-35" dirty="0">
                <a:latin typeface="Arial"/>
                <a:cs typeface="Arial"/>
              </a:rPr>
              <a:t>n</a:t>
            </a:r>
            <a:r>
              <a:rPr sz="600" b="1" spc="-5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t</a:t>
            </a:r>
            <a:r>
              <a:rPr sz="600" b="1" spc="20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90" dirty="0">
                <a:latin typeface="Tahoma"/>
                <a:cs typeface="Tahoma"/>
              </a:rPr>
              <a:t>”</a:t>
            </a:r>
            <a:r>
              <a:rPr sz="600" i="1" spc="90" dirty="0">
                <a:latin typeface="Verdana"/>
                <a:cs typeface="Verdana"/>
              </a:rPr>
              <a:t>\</a:t>
            </a:r>
            <a:r>
              <a:rPr sz="600" spc="90" dirty="0">
                <a:latin typeface="Tahoma"/>
                <a:cs typeface="Tahoma"/>
              </a:rPr>
              <a:t>n”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Impl:</a:t>
            </a:r>
            <a:r>
              <a:rPr spc="155" dirty="0"/>
              <a:t> </a:t>
            </a:r>
            <a:r>
              <a:rPr spc="-25" dirty="0"/>
              <a:t>Transforming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67040"/>
            <a:ext cx="539623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dataset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needed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transformed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75" dirty="0">
                <a:latin typeface="Arial"/>
                <a:cs typeface="Arial"/>
              </a:rPr>
              <a:t>one-</a:t>
            </a:r>
            <a:r>
              <a:rPr sz="1100" i="1" dirty="0">
                <a:latin typeface="Arial"/>
                <a:cs typeface="Arial"/>
              </a:rPr>
              <a:t>hot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encoding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class.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process vectorized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text.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vectorization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80" dirty="0">
                <a:latin typeface="Arial"/>
                <a:cs typeface="Arial"/>
              </a:rPr>
              <a:t>codes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1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i="1" dirty="0">
                <a:latin typeface="Arial"/>
                <a:cs typeface="Arial"/>
                <a:hlinkClick r:id="rId2" action="ppaction://hlinksldjump"/>
              </a:rPr>
              <a:t>2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show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facilitate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transformation.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9862" y="1698053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3717" y="169805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60523" y="1698053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0758" y="178662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4690" y="187519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436" y="1963750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8576" y="205231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56119" y="205231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7505" y="1344228"/>
            <a:ext cx="2444750" cy="7391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Tahoma"/>
                <a:cs typeface="Tahoma"/>
              </a:rPr>
              <a:t>1: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Vectorization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Layer</a:t>
            </a:r>
            <a:endParaRPr sz="1100">
              <a:latin typeface="Tahoma"/>
              <a:cs typeface="Tahoma"/>
            </a:endParaRPr>
          </a:p>
          <a:p>
            <a:pPr marL="181610" indent="-181610">
              <a:lnSpc>
                <a:spcPts val="700"/>
              </a:lnSpc>
              <a:spcBef>
                <a:spcPts val="320"/>
              </a:spcBef>
            </a:pPr>
            <a:r>
              <a:rPr sz="600" dirty="0">
                <a:latin typeface="Tahoma"/>
                <a:cs typeface="Tahoma"/>
              </a:rPr>
              <a:t>c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h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31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31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270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190" dirty="0">
                <a:latin typeface="Tahoma"/>
                <a:cs typeface="Tahoma"/>
              </a:rPr>
              <a:t> </a:t>
            </a:r>
            <a:r>
              <a:rPr sz="600" b="1" dirty="0">
                <a:latin typeface="Arial"/>
                <a:cs typeface="Arial"/>
              </a:rPr>
              <a:t>lambda</a:t>
            </a:r>
            <a:r>
              <a:rPr sz="600" b="1" spc="310" dirty="0">
                <a:latin typeface="Arial"/>
                <a:cs typeface="Arial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4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:</a:t>
            </a:r>
            <a:r>
              <a:rPr sz="600" spc="4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4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g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</a:t>
            </a:r>
            <a:r>
              <a:rPr sz="600" spc="4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3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28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 </a:t>
            </a:r>
            <a:r>
              <a:rPr sz="600" spc="-50" dirty="0">
                <a:latin typeface="Tahoma"/>
                <a:cs typeface="Tahoma"/>
              </a:rPr>
              <a:t>(</a:t>
            </a:r>
            <a:r>
              <a:rPr sz="600" spc="5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x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,</a:t>
            </a:r>
            <a:r>
              <a:rPr sz="600" spc="42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4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g=”UTF</a:t>
            </a:r>
            <a:r>
              <a:rPr sz="600" spc="50" dirty="0">
                <a:latin typeface="Calibri"/>
                <a:cs typeface="Calibri"/>
              </a:rPr>
              <a:t>−</a:t>
            </a:r>
            <a:r>
              <a:rPr sz="600" spc="50" dirty="0">
                <a:latin typeface="Tahoma"/>
                <a:cs typeface="Tahoma"/>
              </a:rPr>
              <a:t>8”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  <a:p>
            <a:pPr>
              <a:lnSpc>
                <a:spcPts val="665"/>
              </a:lnSpc>
            </a:pP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265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23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k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3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y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</a:t>
            </a:r>
            <a:r>
              <a:rPr sz="600" spc="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20" dirty="0">
                <a:latin typeface="Tahoma"/>
                <a:cs typeface="Tahoma"/>
              </a:rPr>
              <a:t> </a:t>
            </a:r>
            <a:r>
              <a:rPr sz="600" spc="80" dirty="0">
                <a:latin typeface="Tahoma"/>
                <a:cs typeface="Tahoma"/>
              </a:rPr>
              <a:t>T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55" dirty="0">
                <a:latin typeface="Tahoma"/>
                <a:cs typeface="Tahoma"/>
              </a:rPr>
              <a:t>V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-2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(</a:t>
            </a:r>
            <a:endParaRPr sz="600">
              <a:latin typeface="Tahoma"/>
              <a:cs typeface="Tahoma"/>
            </a:endParaRPr>
          </a:p>
          <a:p>
            <a:pPr marL="186055">
              <a:lnSpc>
                <a:spcPts val="695"/>
              </a:lnSpc>
            </a:pPr>
            <a:r>
              <a:rPr sz="600" spc="50" dirty="0">
                <a:latin typeface="Tahoma"/>
                <a:cs typeface="Tahoma"/>
              </a:rPr>
              <a:t>output</a:t>
            </a:r>
            <a:r>
              <a:rPr sz="600" spc="2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mode=”</a:t>
            </a:r>
            <a:r>
              <a:rPr sz="600" spc="-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5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4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10" dirty="0">
                <a:latin typeface="Tahoma"/>
                <a:cs typeface="Tahoma"/>
              </a:rPr>
              <a:t> </a:t>
            </a:r>
            <a:r>
              <a:rPr sz="600" spc="75" dirty="0">
                <a:latin typeface="Tahoma"/>
                <a:cs typeface="Tahoma"/>
              </a:rPr>
              <a:t>”</a:t>
            </a:r>
            <a:r>
              <a:rPr sz="600" spc="3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,</a:t>
            </a:r>
            <a:endParaRPr sz="600">
              <a:latin typeface="Tahoma"/>
              <a:cs typeface="Tahoma"/>
            </a:endParaRPr>
          </a:p>
          <a:p>
            <a:pPr marL="194945">
              <a:lnSpc>
                <a:spcPts val="710"/>
              </a:lnSpc>
            </a:pP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5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5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5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45" dirty="0">
                <a:latin typeface="Tahoma"/>
                <a:cs typeface="Tahoma"/>
              </a:rPr>
              <a:t> </a:t>
            </a:r>
            <a:r>
              <a:rPr sz="600" spc="70" dirty="0">
                <a:latin typeface="Tahoma"/>
                <a:cs typeface="Tahoma"/>
              </a:rPr>
              <a:t>t=c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h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15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,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876" y="2054801"/>
            <a:ext cx="317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4690" y="231802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10842" y="231802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7372" y="2406599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67434" y="240659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48980" y="2406599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4690" y="249515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6223" y="249515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2405" y="2231941"/>
            <a:ext cx="2518410" cy="2940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1905">
              <a:lnSpc>
                <a:spcPts val="700"/>
              </a:lnSpc>
              <a:spcBef>
                <a:spcPts val="135"/>
              </a:spcBef>
            </a:pP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3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y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5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-1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adapt</a:t>
            </a:r>
            <a:r>
              <a:rPr sz="600" spc="-4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31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5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.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b="1" spc="-40" dirty="0">
                <a:latin typeface="Arial"/>
                <a:cs typeface="Arial"/>
              </a:rPr>
              <a:t>map</a:t>
            </a:r>
            <a:r>
              <a:rPr sz="600" b="1" spc="-105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b="1" dirty="0">
                <a:latin typeface="Arial"/>
                <a:cs typeface="Arial"/>
              </a:rPr>
              <a:t>lambda</a:t>
            </a:r>
            <a:r>
              <a:rPr sz="600" b="1" spc="315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x</a:t>
            </a:r>
            <a:r>
              <a:rPr sz="600" spc="-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,</a:t>
            </a:r>
            <a:r>
              <a:rPr sz="600" spc="37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y</a:t>
            </a:r>
            <a:r>
              <a:rPr sz="600" spc="-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:</a:t>
            </a:r>
            <a:r>
              <a:rPr sz="600" spc="3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4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)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r>
              <a:rPr sz="600" spc="5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b</a:t>
            </a:r>
            <a:r>
              <a:rPr sz="600" spc="25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250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235" dirty="0">
                <a:latin typeface="Tahoma"/>
                <a:cs typeface="Tahoma"/>
              </a:rPr>
              <a:t> </a:t>
            </a:r>
            <a:r>
              <a:rPr sz="600" b="1" spc="-20" dirty="0">
                <a:latin typeface="Arial"/>
                <a:cs typeface="Arial"/>
              </a:rPr>
              <a:t>l</a:t>
            </a:r>
            <a:r>
              <a:rPr sz="600" b="1" spc="-80" dirty="0">
                <a:latin typeface="Arial"/>
                <a:cs typeface="Arial"/>
              </a:rPr>
              <a:t> </a:t>
            </a:r>
            <a:r>
              <a:rPr sz="600" b="1" spc="-40" dirty="0">
                <a:latin typeface="Arial"/>
                <a:cs typeface="Arial"/>
              </a:rPr>
              <a:t>e</a:t>
            </a:r>
            <a:r>
              <a:rPr sz="600" b="1" spc="-75" dirty="0">
                <a:latin typeface="Arial"/>
                <a:cs typeface="Arial"/>
              </a:rPr>
              <a:t> </a:t>
            </a:r>
            <a:r>
              <a:rPr sz="600" b="1" spc="-30" dirty="0">
                <a:latin typeface="Arial"/>
                <a:cs typeface="Arial"/>
              </a:rPr>
              <a:t>n</a:t>
            </a:r>
            <a:r>
              <a:rPr sz="600" b="1" spc="-10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(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3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g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4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b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y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)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  <a:p>
            <a:pPr marL="14604">
              <a:lnSpc>
                <a:spcPts val="675"/>
              </a:lnSpc>
            </a:pP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3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2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g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4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b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y (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68115" y="1735823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23044" y="1418808"/>
            <a:ext cx="2471420" cy="4362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95350">
              <a:lnSpc>
                <a:spcPct val="100000"/>
              </a:lnSpc>
              <a:spcBef>
                <a:spcPts val="420"/>
              </a:spcBef>
            </a:pPr>
            <a:r>
              <a:rPr sz="1100" dirty="0">
                <a:latin typeface="Tahoma"/>
                <a:cs typeface="Tahoma"/>
              </a:rPr>
              <a:t>2: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Vectorize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Text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ts val="710"/>
              </a:lnSpc>
              <a:spcBef>
                <a:spcPts val="175"/>
              </a:spcBef>
            </a:pPr>
            <a:r>
              <a:rPr sz="600" b="1" spc="-35" dirty="0">
                <a:latin typeface="Arial"/>
                <a:cs typeface="Arial"/>
              </a:rPr>
              <a:t>d</a:t>
            </a:r>
            <a:r>
              <a:rPr sz="600" b="1" spc="-95" dirty="0">
                <a:latin typeface="Arial"/>
                <a:cs typeface="Arial"/>
              </a:rPr>
              <a:t> </a:t>
            </a:r>
            <a:r>
              <a:rPr sz="600" b="1" spc="-40" dirty="0">
                <a:latin typeface="Arial"/>
                <a:cs typeface="Arial"/>
              </a:rPr>
              <a:t>e</a:t>
            </a:r>
            <a:r>
              <a:rPr sz="600" b="1" spc="-90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f</a:t>
            </a:r>
            <a:r>
              <a:rPr sz="600" b="1" spc="434" dirty="0">
                <a:latin typeface="Arial"/>
                <a:cs typeface="Arial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3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te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,</a:t>
            </a:r>
            <a:r>
              <a:rPr sz="600" spc="45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b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5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)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:</a:t>
            </a:r>
            <a:endParaRPr sz="600">
              <a:latin typeface="Tahoma"/>
              <a:cs typeface="Tahoma"/>
            </a:endParaRPr>
          </a:p>
          <a:p>
            <a:pPr marL="200660">
              <a:lnSpc>
                <a:spcPts val="710"/>
              </a:lnSpc>
            </a:pPr>
            <a:r>
              <a:rPr sz="600" spc="114" dirty="0">
                <a:latin typeface="Tahoma"/>
                <a:cs typeface="Tahoma"/>
              </a:rPr>
              <a:t>”””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Re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tu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</a:t>
            </a:r>
            <a:r>
              <a:rPr sz="600" spc="34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a</a:t>
            </a:r>
            <a:r>
              <a:rPr sz="600" spc="3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44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42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3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th</a:t>
            </a:r>
            <a:r>
              <a:rPr sz="600" spc="-11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4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09898" y="2355799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10876" y="2444369"/>
            <a:ext cx="24765" cy="0"/>
          </a:xfrm>
          <a:custGeom>
            <a:avLst/>
            <a:gdLst/>
            <a:ahLst/>
            <a:cxnLst/>
            <a:rect l="l" t="t" r="r" b="b"/>
            <a:pathLst>
              <a:path w="24764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11106" y="1915444"/>
            <a:ext cx="2138680" cy="559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ts val="710"/>
              </a:lnSpc>
              <a:spcBef>
                <a:spcPts val="95"/>
              </a:spcBef>
            </a:pPr>
            <a:r>
              <a:rPr sz="600" spc="-45" dirty="0">
                <a:latin typeface="Tahoma"/>
                <a:cs typeface="Tahoma"/>
              </a:rPr>
              <a:t>:</a:t>
            </a:r>
            <a:r>
              <a:rPr sz="600" spc="-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param</a:t>
            </a:r>
            <a:r>
              <a:rPr sz="600" spc="3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:</a:t>
            </a:r>
            <a:r>
              <a:rPr sz="600" spc="3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The</a:t>
            </a:r>
            <a:r>
              <a:rPr sz="600" spc="3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42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to</a:t>
            </a:r>
            <a:r>
              <a:rPr sz="600" spc="434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e</a:t>
            </a:r>
            <a:endParaRPr sz="600">
              <a:latin typeface="Tahoma"/>
              <a:cs typeface="Tahoma"/>
            </a:endParaRPr>
          </a:p>
          <a:p>
            <a:pPr marL="21590">
              <a:lnSpc>
                <a:spcPts val="695"/>
              </a:lnSpc>
            </a:pPr>
            <a:r>
              <a:rPr sz="600" spc="-45" dirty="0">
                <a:latin typeface="Tahoma"/>
                <a:cs typeface="Tahoma"/>
              </a:rPr>
              <a:t>:</a:t>
            </a:r>
            <a:r>
              <a:rPr sz="600" spc="-3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param</a:t>
            </a:r>
            <a:r>
              <a:rPr sz="600" spc="3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b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4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:</a:t>
            </a:r>
            <a:r>
              <a:rPr sz="600" spc="3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The</a:t>
            </a:r>
            <a:r>
              <a:rPr sz="600" spc="3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b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434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3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th</a:t>
            </a:r>
            <a:r>
              <a:rPr sz="600" spc="-11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409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t</a:t>
            </a:r>
            <a:endParaRPr sz="600">
              <a:latin typeface="Tahoma"/>
              <a:cs typeface="Tahoma"/>
            </a:endParaRPr>
          </a:p>
          <a:p>
            <a:pPr marL="12700" marR="5080" indent="8890">
              <a:lnSpc>
                <a:spcPts val="700"/>
              </a:lnSpc>
              <a:spcBef>
                <a:spcPts val="30"/>
              </a:spcBef>
            </a:pPr>
            <a:r>
              <a:rPr sz="600" dirty="0">
                <a:latin typeface="Tahoma"/>
                <a:cs typeface="Tahoma"/>
              </a:rPr>
              <a:t>: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: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spc="55" dirty="0">
                <a:latin typeface="Tahoma"/>
                <a:cs typeface="Tahoma"/>
              </a:rPr>
              <a:t>A</a:t>
            </a:r>
            <a:r>
              <a:rPr sz="600" spc="2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4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4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3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th</a:t>
            </a:r>
            <a:r>
              <a:rPr sz="600" spc="-114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3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t</a:t>
            </a:r>
            <a:r>
              <a:rPr sz="600" spc="90" dirty="0">
                <a:latin typeface="Tahoma"/>
                <a:cs typeface="Tahoma"/>
              </a:rPr>
              <a:t> ”””</a:t>
            </a:r>
            <a:endParaRPr sz="600">
              <a:latin typeface="Tahoma"/>
              <a:cs typeface="Tahoma"/>
            </a:endParaRPr>
          </a:p>
          <a:p>
            <a:pPr marL="20955">
              <a:lnSpc>
                <a:spcPts val="665"/>
              </a:lnSpc>
            </a:pPr>
            <a:r>
              <a:rPr sz="600" dirty="0">
                <a:latin typeface="Tahoma"/>
                <a:cs typeface="Tahoma"/>
              </a:rPr>
              <a:t>t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310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3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f</a:t>
            </a:r>
            <a:r>
              <a:rPr sz="600" spc="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.</a:t>
            </a:r>
            <a:r>
              <a:rPr sz="600" spc="2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expand</a:t>
            </a:r>
            <a:r>
              <a:rPr sz="600" spc="24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dims</a:t>
            </a:r>
            <a:r>
              <a:rPr sz="600" spc="-2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te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1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,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40" dirty="0">
                <a:latin typeface="Tahoma"/>
                <a:cs typeface="Tahoma"/>
              </a:rPr>
              <a:t>=</a:t>
            </a:r>
            <a:r>
              <a:rPr sz="600" spc="40" dirty="0">
                <a:latin typeface="Calibri"/>
                <a:cs typeface="Calibri"/>
              </a:rPr>
              <a:t>−</a:t>
            </a:r>
            <a:r>
              <a:rPr sz="600" spc="40" dirty="0">
                <a:latin typeface="Tahoma"/>
                <a:cs typeface="Tahoma"/>
              </a:rPr>
              <a:t>1)</a:t>
            </a:r>
            <a:endParaRPr sz="600">
              <a:latin typeface="Tahoma"/>
              <a:cs typeface="Tahoma"/>
            </a:endParaRPr>
          </a:p>
          <a:p>
            <a:pPr marL="19685">
              <a:lnSpc>
                <a:spcPts val="710"/>
              </a:lnSpc>
            </a:pPr>
            <a:r>
              <a:rPr sz="600" b="1" spc="-25" dirty="0">
                <a:latin typeface="Arial"/>
                <a:cs typeface="Arial"/>
              </a:rPr>
              <a:t>r</a:t>
            </a:r>
            <a:r>
              <a:rPr sz="600" b="1" spc="-75" dirty="0">
                <a:latin typeface="Arial"/>
                <a:cs typeface="Arial"/>
              </a:rPr>
              <a:t> </a:t>
            </a:r>
            <a:r>
              <a:rPr sz="600" b="1" spc="-40" dirty="0">
                <a:latin typeface="Arial"/>
                <a:cs typeface="Arial"/>
              </a:rPr>
              <a:t>e</a:t>
            </a:r>
            <a:r>
              <a:rPr sz="600" b="1" spc="-7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tu</a:t>
            </a:r>
            <a:r>
              <a:rPr sz="600" b="1" spc="-75" dirty="0">
                <a:latin typeface="Arial"/>
                <a:cs typeface="Arial"/>
              </a:rPr>
              <a:t> </a:t>
            </a:r>
            <a:r>
              <a:rPr sz="600" b="1" spc="-25" dirty="0">
                <a:latin typeface="Arial"/>
                <a:cs typeface="Arial"/>
              </a:rPr>
              <a:t>r</a:t>
            </a:r>
            <a:r>
              <a:rPr sz="600" b="1" spc="-75" dirty="0">
                <a:latin typeface="Arial"/>
                <a:cs typeface="Arial"/>
              </a:rPr>
              <a:t> </a:t>
            </a:r>
            <a:r>
              <a:rPr sz="600" b="1" dirty="0">
                <a:latin typeface="Arial"/>
                <a:cs typeface="Arial"/>
              </a:rPr>
              <a:t>n</a:t>
            </a:r>
            <a:r>
              <a:rPr sz="600" b="1" spc="434" dirty="0">
                <a:latin typeface="Arial"/>
                <a:cs typeface="Arial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c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z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3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y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1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x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5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)</a:t>
            </a:r>
            <a:r>
              <a:rPr sz="600" spc="-114" dirty="0">
                <a:latin typeface="Tahoma"/>
                <a:cs typeface="Tahoma"/>
              </a:rPr>
              <a:t> </a:t>
            </a:r>
            <a:r>
              <a:rPr sz="600" spc="130" dirty="0">
                <a:latin typeface="Calibri"/>
                <a:cs typeface="Calibri"/>
              </a:rPr>
              <a:t>−</a:t>
            </a:r>
            <a:r>
              <a:rPr sz="600" spc="130" dirty="0">
                <a:latin typeface="Tahoma"/>
                <a:cs typeface="Tahoma"/>
              </a:rPr>
              <a:t>2</a:t>
            </a:r>
            <a:r>
              <a:rPr sz="600" spc="-114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,</a:t>
            </a:r>
            <a:r>
              <a:rPr sz="600" spc="3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b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l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Impl:</a:t>
            </a:r>
            <a:r>
              <a:rPr spc="190" dirty="0"/>
              <a:t> </a:t>
            </a:r>
            <a:r>
              <a:rPr spc="-35" dirty="0"/>
              <a:t>Metrics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153704"/>
            <a:ext cx="5555615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Providing</a:t>
            </a:r>
            <a:r>
              <a:rPr sz="1100" spc="-40" dirty="0">
                <a:latin typeface="Tahoma"/>
                <a:cs typeface="Tahoma"/>
              </a:rPr>
              <a:t> transparent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model’s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performance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cornerstone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benchmarking.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implementation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capturing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metrics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providing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visual </a:t>
            </a:r>
            <a:r>
              <a:rPr sz="1100" spc="-55" dirty="0">
                <a:latin typeface="Tahoma"/>
                <a:cs typeface="Tahoma"/>
              </a:rPr>
              <a:t>evidence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CNN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evaluation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unseen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graphs </a:t>
            </a:r>
            <a:r>
              <a:rPr sz="1100" spc="-50" dirty="0">
                <a:latin typeface="Tahoma"/>
                <a:cs typeface="Tahoma"/>
              </a:rPr>
              <a:t>produced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contain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accuracy,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functions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(i.e.,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learning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curve)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7" baseline="-10416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score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for </a:t>
            </a:r>
            <a:r>
              <a:rPr sz="1100" spc="-10" dirty="0">
                <a:latin typeface="Tahoma"/>
                <a:cs typeface="Tahoma"/>
              </a:rPr>
              <a:t>training.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method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metrics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evaluation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testing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Complications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084870"/>
            <a:ext cx="5559425" cy="1052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27635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complications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genomic-</a:t>
            </a:r>
            <a:r>
              <a:rPr sz="1100" i="1" spc="-55" dirty="0">
                <a:latin typeface="Arial"/>
                <a:cs typeface="Arial"/>
              </a:rPr>
              <a:t>benchmarks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Python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package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design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built.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authors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built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source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helper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functions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work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i="1" spc="-35" dirty="0">
                <a:latin typeface="Arial"/>
                <a:cs typeface="Arial"/>
              </a:rPr>
              <a:t>python3.10</a:t>
            </a:r>
            <a:r>
              <a:rPr sz="1100" spc="-35" dirty="0">
                <a:latin typeface="Tahoma"/>
                <a:cs typeface="Tahoma"/>
              </a:rPr>
              <a:t>.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few </a:t>
            </a:r>
            <a:r>
              <a:rPr sz="1100" spc="-55" dirty="0">
                <a:latin typeface="Tahoma"/>
                <a:cs typeface="Tahoma"/>
              </a:rPr>
              <a:t>dependencies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source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used.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</a:pPr>
            <a:r>
              <a:rPr sz="1100" spc="-40" dirty="0">
                <a:latin typeface="Tahoma"/>
                <a:cs typeface="Tahoma"/>
              </a:rPr>
              <a:t>Including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tensorflow-</a:t>
            </a:r>
            <a:r>
              <a:rPr sz="1100" i="1" spc="-50" dirty="0">
                <a:latin typeface="Arial"/>
                <a:cs typeface="Arial"/>
              </a:rPr>
              <a:t>addons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score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due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Arial"/>
                <a:cs typeface="Arial"/>
              </a:rPr>
              <a:t>Keras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package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version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addressed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next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section),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torchtext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tokenization</a:t>
            </a:r>
            <a:r>
              <a:rPr sz="1100" spc="-40" dirty="0">
                <a:latin typeface="Tahoma"/>
                <a:cs typeface="Tahoma"/>
              </a:rPr>
              <a:t> methods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source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code,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compatible </a:t>
            </a:r>
            <a:r>
              <a:rPr sz="1100" i="1" dirty="0">
                <a:latin typeface="Arial"/>
                <a:cs typeface="Arial"/>
              </a:rPr>
              <a:t>torch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version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installed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Google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Colab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Complications</a:t>
            </a:r>
            <a:r>
              <a:rPr spc="85" dirty="0"/>
              <a:t> </a:t>
            </a: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10868"/>
            <a:ext cx="540956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complications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being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uniform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length,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adding </a:t>
            </a:r>
            <a:r>
              <a:rPr sz="1100" spc="-35" dirty="0">
                <a:latin typeface="Tahoma"/>
                <a:cs typeface="Tahoma"/>
              </a:rPr>
              <a:t>complexity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native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numpy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arrays.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another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issue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one-</a:t>
            </a:r>
            <a:r>
              <a:rPr sz="1100" i="1" spc="-25" dirty="0">
                <a:latin typeface="Arial"/>
                <a:cs typeface="Arial"/>
              </a:rPr>
              <a:t>hot </a:t>
            </a:r>
            <a:r>
              <a:rPr sz="1100" spc="-40" dirty="0">
                <a:latin typeface="Tahoma"/>
                <a:cs typeface="Tahoma"/>
              </a:rPr>
              <a:t>encoding</a:t>
            </a:r>
            <a:r>
              <a:rPr sz="1100" spc="-50" dirty="0">
                <a:latin typeface="Tahoma"/>
                <a:cs typeface="Tahoma"/>
              </a:rPr>
              <a:t> source</a:t>
            </a:r>
            <a:r>
              <a:rPr sz="1100" spc="-35" dirty="0">
                <a:latin typeface="Tahoma"/>
                <a:cs typeface="Tahoma"/>
              </a:rPr>
              <a:t> code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working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being </a:t>
            </a:r>
            <a:r>
              <a:rPr sz="1100" spc="-10" dirty="0">
                <a:latin typeface="Tahoma"/>
                <a:cs typeface="Tahoma"/>
              </a:rPr>
              <a:t>utilized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model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addressed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next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section).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Figures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3,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4,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5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show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complications.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443" y="1817923"/>
            <a:ext cx="701755" cy="4005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366" y="2330114"/>
            <a:ext cx="3561079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  <a:tabLst>
                <a:tab pos="1988820" algn="l"/>
              </a:tabLst>
            </a:pPr>
            <a:r>
              <a:rPr sz="900" spc="-10" dirty="0">
                <a:solidFill>
                  <a:srgbClr val="0C264C"/>
                </a:solidFill>
                <a:latin typeface="Arial"/>
                <a:cs typeface="Arial"/>
              </a:rPr>
              <a:t>Figure:</a:t>
            </a:r>
            <a:r>
              <a:rPr sz="900" spc="15" dirty="0">
                <a:solidFill>
                  <a:srgbClr val="0C264C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Tensorflow-</a:t>
            </a:r>
            <a:r>
              <a:rPr sz="900" spc="-30" dirty="0">
                <a:latin typeface="Arial"/>
                <a:cs typeface="Arial"/>
              </a:rPr>
              <a:t>addons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Package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1350" spc="-15" baseline="3086" dirty="0">
                <a:solidFill>
                  <a:srgbClr val="0C264C"/>
                </a:solidFill>
                <a:latin typeface="Arial"/>
                <a:cs typeface="Arial"/>
              </a:rPr>
              <a:t>Figure:</a:t>
            </a:r>
            <a:r>
              <a:rPr sz="1350" spc="-44" baseline="3086" dirty="0">
                <a:solidFill>
                  <a:srgbClr val="0C264C"/>
                </a:solidFill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Torchtext</a:t>
            </a:r>
            <a:r>
              <a:rPr sz="1350" spc="-37" baseline="3086" dirty="0">
                <a:latin typeface="Arial"/>
                <a:cs typeface="Arial"/>
              </a:rPr>
              <a:t> </a:t>
            </a:r>
            <a:r>
              <a:rPr sz="1350" spc="-67" baseline="3086" dirty="0">
                <a:latin typeface="Arial"/>
                <a:cs typeface="Arial"/>
              </a:rPr>
              <a:t>Package</a:t>
            </a:r>
            <a:r>
              <a:rPr sz="1350" spc="-22" baseline="3086" dirty="0">
                <a:latin typeface="Arial"/>
                <a:cs typeface="Arial"/>
              </a:rPr>
              <a:t> </a:t>
            </a:r>
            <a:r>
              <a:rPr sz="1350" spc="-89" baseline="3086" dirty="0">
                <a:latin typeface="Arial"/>
                <a:cs typeface="Arial"/>
              </a:rPr>
              <a:t>Issue</a:t>
            </a:r>
            <a:r>
              <a:rPr sz="1350" spc="-15" baseline="3086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Issue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9090" y="1938749"/>
            <a:ext cx="701784" cy="2502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07738" y="1972321"/>
            <a:ext cx="701641" cy="1793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39209" y="2292763"/>
            <a:ext cx="1638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0C264C"/>
                </a:solidFill>
                <a:latin typeface="Arial"/>
                <a:cs typeface="Arial"/>
              </a:rPr>
              <a:t>Figure:</a:t>
            </a:r>
            <a:r>
              <a:rPr sz="900" dirty="0">
                <a:solidFill>
                  <a:srgbClr val="0C264C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Numpy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 </a:t>
            </a:r>
            <a:r>
              <a:rPr sz="900" spc="-50" dirty="0">
                <a:latin typeface="Arial"/>
                <a:cs typeface="Arial"/>
              </a:rPr>
              <a:t>Shape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Issue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Mitigation</a:t>
            </a:r>
            <a:r>
              <a:rPr spc="40" dirty="0"/>
              <a:t> </a:t>
            </a:r>
            <a:r>
              <a:rPr spc="-30" dirty="0"/>
              <a:t>Attempts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03096"/>
            <a:ext cx="546735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latin typeface="Arial"/>
                <a:cs typeface="Arial"/>
              </a:rPr>
              <a:t>Attempted: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Working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source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complications,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20" dirty="0">
                <a:latin typeface="Tahoma"/>
                <a:cs typeface="Tahoma"/>
              </a:rPr>
              <a:t>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decided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lower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35" dirty="0">
                <a:latin typeface="Tahoma"/>
                <a:cs typeface="Tahoma"/>
              </a:rPr>
              <a:t>python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lowest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google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Colab</a:t>
            </a:r>
            <a:r>
              <a:rPr sz="1100" spc="-35" dirty="0">
                <a:latin typeface="Tahoma"/>
                <a:cs typeface="Tahoma"/>
              </a:rPr>
              <a:t> environment.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Initially,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 </a:t>
            </a:r>
            <a:r>
              <a:rPr sz="1100" spc="-20" dirty="0">
                <a:latin typeface="Tahoma"/>
                <a:cs typeface="Tahoma"/>
              </a:rPr>
              <a:t>attempt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switch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figure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  <a:hlinkClick r:id="rId2" action="ppaction://hlinksldjump"/>
              </a:rPr>
              <a:t>6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6351" y="1151963"/>
            <a:ext cx="2467234" cy="98782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2273853"/>
            <a:ext cx="5493385" cy="73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0C264C"/>
                </a:solidFill>
                <a:latin typeface="Arial"/>
                <a:cs typeface="Arial"/>
              </a:rPr>
              <a:t>Figure:</a:t>
            </a:r>
            <a:r>
              <a:rPr sz="900" spc="-25" dirty="0">
                <a:solidFill>
                  <a:srgbClr val="0C264C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Python3.11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Installation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abandoned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constraints.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After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change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made,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 </a:t>
            </a:r>
            <a:r>
              <a:rPr sz="1100" spc="-25" dirty="0">
                <a:latin typeface="Tahoma"/>
                <a:cs typeface="Tahoma"/>
              </a:rPr>
              <a:t>was </a:t>
            </a:r>
            <a:r>
              <a:rPr sz="1100" spc="-40" dirty="0">
                <a:latin typeface="Tahoma"/>
                <a:cs typeface="Tahoma"/>
              </a:rPr>
              <a:t>able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results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minimal additional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workarounds.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Mitigation</a:t>
            </a:r>
            <a:r>
              <a:rPr spc="25" dirty="0"/>
              <a:t> </a:t>
            </a:r>
            <a:r>
              <a:rPr spc="-20" dirty="0"/>
              <a:t>Attempts</a:t>
            </a:r>
            <a:r>
              <a:rPr spc="25" dirty="0"/>
              <a:t> </a:t>
            </a: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74877"/>
            <a:ext cx="531304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5" dirty="0">
                <a:latin typeface="Arial"/>
                <a:cs typeface="Arial"/>
              </a:rPr>
              <a:t>Fixed: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required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additional </a:t>
            </a:r>
            <a:r>
              <a:rPr sz="1100" spc="-60" dirty="0">
                <a:latin typeface="Tahoma"/>
                <a:cs typeface="Tahoma"/>
              </a:rPr>
              <a:t>new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layers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added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architecture</a:t>
            </a:r>
            <a:r>
              <a:rPr sz="1100" spc="-25" dirty="0">
                <a:latin typeface="Tahoma"/>
                <a:cs typeface="Tahoma"/>
              </a:rPr>
              <a:t> to </a:t>
            </a:r>
            <a:r>
              <a:rPr sz="1100" spc="-40" dirty="0">
                <a:latin typeface="Tahoma"/>
                <a:cs typeface="Tahoma"/>
              </a:rPr>
              <a:t>handle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Convolutional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Layer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Flatten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Layer</a:t>
            </a:r>
            <a:r>
              <a:rPr sz="1100" spc="-40" dirty="0">
                <a:latin typeface="Tahoma"/>
                <a:cs typeface="Tahoma"/>
              </a:rPr>
              <a:t>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A </a:t>
            </a:r>
            <a:r>
              <a:rPr sz="1100" b="1" spc="-30" dirty="0">
                <a:latin typeface="Arial"/>
                <a:cs typeface="Arial"/>
              </a:rPr>
              <a:t>Global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Average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Pooling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Layer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was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added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CNN</a:t>
            </a:r>
            <a:r>
              <a:rPr sz="1100" spc="-30" dirty="0">
                <a:latin typeface="Tahoma"/>
                <a:cs typeface="Tahoma"/>
              </a:rPr>
              <a:t> architecture.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Figure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7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Tahoma"/>
                <a:cs typeface="Tahoma"/>
              </a:rPr>
              <a:t>shows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updated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architecture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second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802" y="1318755"/>
            <a:ext cx="3698875" cy="12242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226" y="2687264"/>
            <a:ext cx="21285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0C264C"/>
                </a:solidFill>
                <a:latin typeface="Arial"/>
                <a:cs typeface="Arial"/>
              </a:rPr>
              <a:t>Figure:</a:t>
            </a:r>
            <a:r>
              <a:rPr sz="900" spc="-25" dirty="0">
                <a:solidFill>
                  <a:srgbClr val="0C264C"/>
                </a:solidFill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Second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Architecture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Mitigation</a:t>
            </a:r>
            <a:r>
              <a:rPr spc="25" dirty="0"/>
              <a:t> </a:t>
            </a:r>
            <a:r>
              <a:rPr spc="-20" dirty="0"/>
              <a:t>Attempts</a:t>
            </a:r>
            <a:r>
              <a:rPr spc="25" dirty="0"/>
              <a:t> </a:t>
            </a:r>
            <a:r>
              <a:rPr spc="-10" dirty="0"/>
              <a:t>Cont.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233308"/>
            <a:ext cx="550481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b="1" spc="-25" dirty="0">
                <a:latin typeface="Arial"/>
                <a:cs typeface="Arial"/>
              </a:rPr>
              <a:t>Fixed: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35" baseline="-10416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Score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implemented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genomic-</a:t>
            </a:r>
            <a:r>
              <a:rPr sz="1100" i="1" spc="-55" dirty="0">
                <a:latin typeface="Arial"/>
                <a:cs typeface="Arial"/>
              </a:rPr>
              <a:t>benchmarks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Python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package </a:t>
            </a:r>
            <a:r>
              <a:rPr sz="1100" spc="-50" dirty="0">
                <a:latin typeface="Tahoma"/>
                <a:cs typeface="Tahoma"/>
              </a:rPr>
              <a:t>requires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version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Arial"/>
                <a:cs typeface="Arial"/>
              </a:rPr>
              <a:t>Keras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supported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</a:t>
            </a:r>
            <a:r>
              <a:rPr sz="1100" spc="-40" dirty="0">
                <a:latin typeface="Tahoma"/>
                <a:cs typeface="Tahoma"/>
              </a:rPr>
              <a:t> version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Google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Colab</a:t>
            </a:r>
            <a:r>
              <a:rPr sz="1100" spc="-40" dirty="0">
                <a:latin typeface="Tahoma"/>
                <a:cs typeface="Tahoma"/>
              </a:rPr>
              <a:t>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A </a:t>
            </a:r>
            <a:r>
              <a:rPr sz="1100" dirty="0">
                <a:latin typeface="Tahoma"/>
                <a:cs typeface="Tahoma"/>
              </a:rPr>
              <a:t>Python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written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implementation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7" baseline="-10416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Score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metric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evaluation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Results:</a:t>
            </a:r>
            <a:r>
              <a:rPr spc="190" dirty="0"/>
              <a:t> </a:t>
            </a:r>
            <a:r>
              <a:rPr dirty="0"/>
              <a:t>Utility</a:t>
            </a:r>
            <a:r>
              <a:rPr spc="5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93234"/>
            <a:ext cx="5437505" cy="1376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1605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To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facilitate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execution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training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testing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models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multiple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datasets;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utility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code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was </a:t>
            </a:r>
            <a:r>
              <a:rPr sz="1000" dirty="0">
                <a:latin typeface="Tahoma"/>
                <a:cs typeface="Tahoma"/>
              </a:rPr>
              <a:t>built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allow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40" dirty="0">
                <a:latin typeface="Tahoma"/>
                <a:cs typeface="Tahoma"/>
              </a:rPr>
              <a:t> repeatable </a:t>
            </a:r>
            <a:r>
              <a:rPr sz="1000" spc="-10" dirty="0">
                <a:latin typeface="Tahoma"/>
                <a:cs typeface="Tahoma"/>
              </a:rPr>
              <a:t>setup.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allows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update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training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test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datasets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 </a:t>
            </a:r>
            <a:r>
              <a:rPr sz="1000" spc="-20" dirty="0">
                <a:latin typeface="Tahoma"/>
                <a:cs typeface="Tahoma"/>
              </a:rPr>
              <a:t>notebook.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This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was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required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because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variables</a:t>
            </a:r>
            <a:r>
              <a:rPr sz="1000" spc="-30" dirty="0">
                <a:latin typeface="Tahoma"/>
                <a:cs typeface="Tahoma"/>
              </a:rPr>
              <a:t> existing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global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scope.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ts val="1200"/>
              </a:lnSpc>
              <a:spcBef>
                <a:spcPts val="25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models </a:t>
            </a:r>
            <a:r>
              <a:rPr sz="1000" spc="-65" dirty="0">
                <a:latin typeface="Tahoma"/>
                <a:cs typeface="Tahoma"/>
              </a:rPr>
              <a:t>were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trained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evaluated</a:t>
            </a:r>
            <a:r>
              <a:rPr sz="1000" spc="-30" dirty="0">
                <a:latin typeface="Tahoma"/>
                <a:cs typeface="Tahoma"/>
              </a:rPr>
              <a:t> using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method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populate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dictionary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model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metrics </a:t>
            </a:r>
            <a:r>
              <a:rPr sz="1000" spc="-20" dirty="0">
                <a:latin typeface="Tahoma"/>
                <a:cs typeface="Tahoma"/>
              </a:rPr>
              <a:t>after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models </a:t>
            </a:r>
            <a:r>
              <a:rPr sz="1000" spc="-65" dirty="0">
                <a:latin typeface="Tahoma"/>
                <a:cs typeface="Tahoma"/>
              </a:rPr>
              <a:t>were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compiled,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trained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evaluated.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50"/>
              </a:lnSpc>
            </a:pPr>
            <a:r>
              <a:rPr sz="1000" spc="-30" dirty="0">
                <a:latin typeface="Tahoma"/>
                <a:cs typeface="Tahoma"/>
              </a:rPr>
              <a:t>Repeating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setup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above </a:t>
            </a:r>
            <a:r>
              <a:rPr sz="1000" spc="-10" dirty="0">
                <a:latin typeface="Tahoma"/>
                <a:cs typeface="Tahoma"/>
              </a:rPr>
              <a:t>utilities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training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evaluation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models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each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dataset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sz="1000" spc="-55" dirty="0">
                <a:latin typeface="Tahoma"/>
                <a:cs typeface="Tahoma"/>
              </a:rPr>
              <a:t>was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reduced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code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  <a:hlinkClick r:id="rId2" action="ppaction://hlinksldjump"/>
              </a:rPr>
              <a:t>3</a:t>
            </a:r>
            <a:r>
              <a:rPr sz="1000" spc="-25" dirty="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16839" algn="ctr">
              <a:lnSpc>
                <a:spcPct val="100000"/>
              </a:lnSpc>
              <a:spcBef>
                <a:spcPts val="955"/>
              </a:spcBef>
            </a:pPr>
            <a:r>
              <a:rPr sz="1100" dirty="0">
                <a:latin typeface="Tahoma"/>
                <a:cs typeface="Tahoma"/>
              </a:rPr>
              <a:t>3: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Evaluation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Run.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8604" y="226640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9751" y="235497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4008" y="235497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150" y="235497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5719" y="244354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1212" y="244354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3993" y="244354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85734" y="244354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1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4378" y="2180315"/>
            <a:ext cx="2525395" cy="29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ts val="710"/>
              </a:lnSpc>
              <a:spcBef>
                <a:spcPts val="95"/>
              </a:spcBef>
            </a:pP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ta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3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m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b</a:t>
            </a:r>
            <a:r>
              <a:rPr sz="600" spc="-10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254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20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0</a:t>
            </a:r>
            <a:endParaRPr sz="600">
              <a:latin typeface="Tahoma"/>
              <a:cs typeface="Tahoma"/>
            </a:endParaRPr>
          </a:p>
          <a:p>
            <a:pPr marL="15875">
              <a:lnSpc>
                <a:spcPts val="695"/>
              </a:lnSpc>
            </a:pP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45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27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p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2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2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29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</a:t>
            </a:r>
            <a:r>
              <a:rPr sz="600" spc="2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(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0</a:t>
            </a:r>
            <a:r>
              <a:rPr sz="600" spc="-100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  <a:p>
            <a:pPr marL="12700">
              <a:lnSpc>
                <a:spcPts val="710"/>
              </a:lnSpc>
            </a:pPr>
            <a:r>
              <a:rPr sz="600" dirty="0">
                <a:latin typeface="Tahoma"/>
                <a:cs typeface="Tahoma"/>
              </a:rPr>
              <a:t>model</a:t>
            </a:r>
            <a:r>
              <a:rPr sz="600" spc="21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0</a:t>
            </a:r>
            <a:r>
              <a:rPr sz="600" spc="250" dirty="0">
                <a:latin typeface="Tahoma"/>
                <a:cs typeface="Tahoma"/>
              </a:rPr>
              <a:t> </a:t>
            </a:r>
            <a:r>
              <a:rPr sz="600" spc="50" dirty="0">
                <a:latin typeface="Tahoma"/>
                <a:cs typeface="Tahoma"/>
              </a:rPr>
              <a:t>=</a:t>
            </a:r>
            <a:r>
              <a:rPr sz="600" spc="28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r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i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n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n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d</a:t>
            </a:r>
            <a:r>
              <a:rPr sz="600" spc="29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v</a:t>
            </a:r>
            <a:r>
              <a:rPr sz="600" spc="-7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u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</a:t>
            </a:r>
            <a:r>
              <a:rPr sz="600" spc="29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m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o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d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7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l</a:t>
            </a:r>
            <a:r>
              <a:rPr sz="600" spc="-8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s (</a:t>
            </a:r>
            <a:r>
              <a:rPr sz="600" spc="-20" dirty="0">
                <a:latin typeface="Tahoma"/>
                <a:cs typeface="Tahoma"/>
              </a:rPr>
              <a:t> d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a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ta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s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spc="-40" dirty="0">
                <a:latin typeface="Tahoma"/>
                <a:cs typeface="Tahoma"/>
              </a:rPr>
              <a:t>e</a:t>
            </a:r>
            <a:r>
              <a:rPr sz="600" spc="-9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t</a:t>
            </a:r>
            <a:r>
              <a:rPr sz="600" spc="114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,</a:t>
            </a:r>
            <a:r>
              <a:rPr sz="600" spc="430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epochs</a:t>
            </a:r>
            <a:r>
              <a:rPr sz="600" spc="-35" dirty="0">
                <a:latin typeface="Tahoma"/>
                <a:cs typeface="Tahoma"/>
              </a:rPr>
              <a:t> </a:t>
            </a:r>
            <a:r>
              <a:rPr sz="600" spc="-50" dirty="0">
                <a:latin typeface="Tahoma"/>
                <a:cs typeface="Tahoma"/>
              </a:rPr>
              <a:t>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139573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Results:</a:t>
            </a:r>
            <a:r>
              <a:rPr spc="170" dirty="0"/>
              <a:t> </a:t>
            </a:r>
            <a:r>
              <a:rPr spc="-50" dirty="0"/>
              <a:t>Models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91360"/>
            <a:ext cx="538797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models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these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experiments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built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Arial"/>
                <a:cs typeface="Arial"/>
              </a:rPr>
              <a:t>Keras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Python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package</a:t>
            </a:r>
            <a:r>
              <a:rPr sz="1100" spc="-40" dirty="0">
                <a:latin typeface="Tahoma"/>
                <a:cs typeface="Tahoma"/>
              </a:rPr>
              <a:t> using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architectures </a:t>
            </a:r>
            <a:r>
              <a:rPr sz="1100" spc="-40" dirty="0">
                <a:latin typeface="Tahoma"/>
                <a:cs typeface="Tahoma"/>
              </a:rPr>
              <a:t>mentioned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model </a:t>
            </a:r>
            <a:r>
              <a:rPr sz="1100" spc="-30" dirty="0">
                <a:latin typeface="Tahoma"/>
                <a:cs typeface="Tahoma"/>
              </a:rPr>
              <a:t>architecture.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experiments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epochs.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baseline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10" dirty="0">
                <a:latin typeface="Tahoma"/>
                <a:cs typeface="Tahoma"/>
              </a:rPr>
              <a:t>final</a:t>
            </a:r>
            <a:r>
              <a:rPr sz="1100" spc="-35" dirty="0">
                <a:latin typeface="Tahoma"/>
                <a:cs typeface="Tahoma"/>
              </a:rPr>
              <a:t> model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built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evaluation</a:t>
            </a:r>
            <a:r>
              <a:rPr sz="1100" spc="-35" dirty="0">
                <a:latin typeface="Tahoma"/>
                <a:cs typeface="Tahoma"/>
              </a:rPr>
              <a:t> method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paper.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Results:</a:t>
            </a:r>
            <a:r>
              <a:rPr spc="175" dirty="0"/>
              <a:t> </a:t>
            </a:r>
            <a:r>
              <a:rPr spc="-35" dirty="0"/>
              <a:t>Models</a:t>
            </a:r>
            <a:r>
              <a:rPr spc="40" dirty="0"/>
              <a:t> </a:t>
            </a:r>
            <a:r>
              <a:rPr dirty="0"/>
              <a:t>-</a:t>
            </a:r>
            <a:r>
              <a:rPr spc="35" dirty="0"/>
              <a:t> </a:t>
            </a:r>
            <a:r>
              <a:rPr dirty="0"/>
              <a:t>Dummy</a:t>
            </a:r>
            <a:r>
              <a:rPr spc="40" dirty="0"/>
              <a:t> </a:t>
            </a:r>
            <a:r>
              <a:rPr spc="-45" dirty="0"/>
              <a:t>Mouse</a:t>
            </a:r>
            <a:r>
              <a:rPr spc="35" dirty="0"/>
              <a:t> </a:t>
            </a:r>
            <a:r>
              <a:rPr spc="-20" dirty="0"/>
              <a:t>Enhancers</a:t>
            </a:r>
            <a:r>
              <a:rPr spc="40" dirty="0"/>
              <a:t> </a:t>
            </a:r>
            <a:r>
              <a:rPr spc="-10" dirty="0"/>
              <a:t>Enseml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01051"/>
            <a:ext cx="553783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models </a:t>
            </a:r>
            <a:r>
              <a:rPr sz="800" spc="-20" dirty="0">
                <a:latin typeface="Tahoma"/>
                <a:cs typeface="Tahoma"/>
              </a:rPr>
              <a:t>were</a:t>
            </a:r>
            <a:r>
              <a:rPr sz="800" dirty="0">
                <a:latin typeface="Tahoma"/>
                <a:cs typeface="Tahoma"/>
              </a:rPr>
              <a:t> trained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 968 </a:t>
            </a:r>
            <a:r>
              <a:rPr sz="800" spc="-25" dirty="0">
                <a:latin typeface="Tahoma"/>
                <a:cs typeface="Tahoma"/>
              </a:rPr>
              <a:t>sequences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for 10 epochs.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Then, tested on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242 </a:t>
            </a:r>
            <a:r>
              <a:rPr sz="800" spc="-20" dirty="0">
                <a:latin typeface="Tahoma"/>
                <a:cs typeface="Tahoma"/>
              </a:rPr>
              <a:t>sequences.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</a:t>
            </a:r>
            <a:r>
              <a:rPr sz="800" spc="-10" dirty="0">
                <a:latin typeface="Tahoma"/>
                <a:cs typeface="Tahoma"/>
              </a:rPr>
              <a:t>results</a:t>
            </a:r>
            <a:r>
              <a:rPr sz="800" dirty="0">
                <a:latin typeface="Tahoma"/>
                <a:cs typeface="Tahoma"/>
              </a:rPr>
              <a:t> of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 training </a:t>
            </a:r>
            <a:r>
              <a:rPr sz="800" spc="-25" dirty="0">
                <a:latin typeface="Tahoma"/>
                <a:cs typeface="Tahoma"/>
              </a:rPr>
              <a:t>are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spc="-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figure</a:t>
            </a:r>
            <a:r>
              <a:rPr sz="800" spc="-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below.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ts val="915"/>
              </a:lnSpc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total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loss,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accuracy,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and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F</a:t>
            </a:r>
            <a:r>
              <a:rPr sz="900" baseline="-9259" dirty="0">
                <a:latin typeface="Tahoma"/>
                <a:cs typeface="Tahoma"/>
              </a:rPr>
              <a:t>1</a:t>
            </a:r>
            <a:r>
              <a:rPr sz="900" spc="165" baseline="-9259" dirty="0">
                <a:latin typeface="Tahoma"/>
                <a:cs typeface="Tahoma"/>
              </a:rPr>
              <a:t> </a:t>
            </a:r>
            <a:r>
              <a:rPr sz="800" b="1" spc="-60" dirty="0">
                <a:latin typeface="Arial"/>
                <a:cs typeface="Arial"/>
              </a:rPr>
              <a:t>score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evaluation metrics </a:t>
            </a:r>
            <a:r>
              <a:rPr sz="800" spc="-10" dirty="0">
                <a:latin typeface="Tahoma"/>
                <a:cs typeface="Tahoma"/>
              </a:rPr>
              <a:t>are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dirty="0">
                <a:latin typeface="Tahoma"/>
                <a:cs typeface="Tahoma"/>
              </a:rPr>
              <a:t> in table.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Note:</a:t>
            </a:r>
            <a:r>
              <a:rPr sz="800" i="1" spc="11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this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is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dataset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index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0</a:t>
            </a:r>
            <a:r>
              <a:rPr sz="800" spc="-25" dirty="0"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791" y="1033322"/>
            <a:ext cx="3914775" cy="143192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5904" y="2620348"/>
          <a:ext cx="1701800" cy="238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Model</a:t>
                      </a:r>
                      <a:r>
                        <a:rPr sz="500" b="1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Name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500" b="1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Loss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Accuracy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0"/>
                        </a:lnSpc>
                        <a:spcBef>
                          <a:spcPts val="15"/>
                        </a:spcBef>
                      </a:pPr>
                      <a:r>
                        <a:rPr sz="750" i="1" baseline="1111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35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35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15" baseline="11111" dirty="0">
                          <a:latin typeface="Arial"/>
                          <a:cs typeface="Arial"/>
                        </a:rPr>
                        <a:t>Score</a:t>
                      </a:r>
                      <a:endParaRPr sz="750" baseline="11111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">
                <a:tc>
                  <a:txBody>
                    <a:bodyPr/>
                    <a:lstStyle/>
                    <a:p>
                      <a:pPr marL="48895">
                        <a:lnSpc>
                          <a:spcPts val="509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Basic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0.5797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66.82%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33.13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Final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0.9998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50.64%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20" dirty="0">
                          <a:latin typeface="Tahoma"/>
                          <a:cs typeface="Tahoma"/>
                        </a:rPr>
                        <a:t>0.76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Results:</a:t>
            </a:r>
            <a:r>
              <a:rPr spc="204" dirty="0"/>
              <a:t> </a:t>
            </a:r>
            <a:r>
              <a:rPr spc="-35" dirty="0"/>
              <a:t>Models</a:t>
            </a:r>
            <a:r>
              <a:rPr spc="55" dirty="0"/>
              <a:t> </a:t>
            </a:r>
            <a:r>
              <a:rPr dirty="0"/>
              <a:t>-</a:t>
            </a:r>
            <a:r>
              <a:rPr spc="60" dirty="0"/>
              <a:t> </a:t>
            </a:r>
            <a:r>
              <a:rPr spc="-25" dirty="0"/>
              <a:t>Drosophila</a:t>
            </a:r>
            <a:r>
              <a:rPr spc="60" dirty="0"/>
              <a:t> </a:t>
            </a:r>
            <a:r>
              <a:rPr spc="-20" dirty="0"/>
              <a:t>Enhancers</a:t>
            </a:r>
            <a:r>
              <a:rPr spc="55" dirty="0"/>
              <a:t> </a:t>
            </a:r>
            <a:r>
              <a:rPr spc="-10" dirty="0"/>
              <a:t>Stark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01051"/>
            <a:ext cx="553656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models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were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trained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 5,184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sequences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for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10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epochs.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Then, tested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1,730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sequences.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results</a:t>
            </a:r>
            <a:r>
              <a:rPr sz="800" dirty="0">
                <a:latin typeface="Tahoma"/>
                <a:cs typeface="Tahoma"/>
              </a:rPr>
              <a:t> of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training are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figure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below.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ts val="915"/>
              </a:lnSpc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total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loss,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accuracy,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and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F</a:t>
            </a:r>
            <a:r>
              <a:rPr sz="900" baseline="-9259" dirty="0">
                <a:latin typeface="Tahoma"/>
                <a:cs typeface="Tahoma"/>
              </a:rPr>
              <a:t>1</a:t>
            </a:r>
            <a:r>
              <a:rPr sz="900" spc="165" baseline="-9259" dirty="0">
                <a:latin typeface="Tahoma"/>
                <a:cs typeface="Tahoma"/>
              </a:rPr>
              <a:t> </a:t>
            </a:r>
            <a:r>
              <a:rPr sz="800" b="1" spc="-60" dirty="0">
                <a:latin typeface="Arial"/>
                <a:cs typeface="Arial"/>
              </a:rPr>
              <a:t>score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evaluation metrics </a:t>
            </a:r>
            <a:r>
              <a:rPr sz="800" spc="-10" dirty="0">
                <a:latin typeface="Tahoma"/>
                <a:cs typeface="Tahoma"/>
              </a:rPr>
              <a:t>are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dirty="0">
                <a:latin typeface="Tahoma"/>
                <a:cs typeface="Tahoma"/>
              </a:rPr>
              <a:t> in table.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Note:</a:t>
            </a:r>
            <a:r>
              <a:rPr sz="800" i="1" spc="11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this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is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dataset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index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1</a:t>
            </a:r>
            <a:r>
              <a:rPr sz="800" spc="-25" dirty="0"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791" y="1033322"/>
            <a:ext cx="3914775" cy="143192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5904" y="2620348"/>
          <a:ext cx="1701800" cy="238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Model</a:t>
                      </a:r>
                      <a:r>
                        <a:rPr sz="500" b="1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Name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500" b="1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Loss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Accuracy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0"/>
                        </a:lnSpc>
                        <a:spcBef>
                          <a:spcPts val="15"/>
                        </a:spcBef>
                      </a:pPr>
                      <a:r>
                        <a:rPr sz="750" i="1" baseline="1111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35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35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15" baseline="11111" dirty="0">
                          <a:latin typeface="Arial"/>
                          <a:cs typeface="Arial"/>
                        </a:rPr>
                        <a:t>Score</a:t>
                      </a:r>
                      <a:endParaRPr sz="750" baseline="11111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">
                <a:tc>
                  <a:txBody>
                    <a:bodyPr/>
                    <a:lstStyle/>
                    <a:p>
                      <a:pPr marL="48895">
                        <a:lnSpc>
                          <a:spcPts val="509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Basic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1.3692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49.94%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40.93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Final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0.8922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50.46%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20" dirty="0">
                          <a:latin typeface="Tahoma"/>
                          <a:cs typeface="Tahoma"/>
                        </a:rPr>
                        <a:t>0.82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Results:</a:t>
            </a:r>
            <a:r>
              <a:rPr spc="195" dirty="0"/>
              <a:t> </a:t>
            </a:r>
            <a:r>
              <a:rPr spc="-35" dirty="0"/>
              <a:t>Models</a:t>
            </a:r>
            <a:r>
              <a:rPr spc="55" dirty="0"/>
              <a:t> </a:t>
            </a:r>
            <a:r>
              <a:rPr dirty="0"/>
              <a:t>-</a:t>
            </a:r>
            <a:r>
              <a:rPr spc="55" dirty="0"/>
              <a:t> </a:t>
            </a:r>
            <a:r>
              <a:rPr spc="-10" dirty="0"/>
              <a:t>Human</a:t>
            </a:r>
            <a:r>
              <a:rPr spc="50" dirty="0"/>
              <a:t> </a:t>
            </a:r>
            <a:r>
              <a:rPr spc="-20" dirty="0"/>
              <a:t>Enhancers</a:t>
            </a:r>
            <a:r>
              <a:rPr spc="55" dirty="0"/>
              <a:t> </a:t>
            </a:r>
            <a:r>
              <a:rPr spc="-20" dirty="0"/>
              <a:t>Cohn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01051"/>
            <a:ext cx="555815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models </a:t>
            </a:r>
            <a:r>
              <a:rPr sz="800" spc="-25" dirty="0">
                <a:latin typeface="Tahoma"/>
                <a:cs typeface="Tahoma"/>
              </a:rPr>
              <a:t>were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trained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</a:t>
            </a:r>
            <a:r>
              <a:rPr sz="800" spc="-10" dirty="0">
                <a:latin typeface="Tahoma"/>
                <a:cs typeface="Tahoma"/>
              </a:rPr>
              <a:t> 20,843 </a:t>
            </a:r>
            <a:r>
              <a:rPr sz="800" spc="-30" dirty="0">
                <a:latin typeface="Tahoma"/>
                <a:cs typeface="Tahoma"/>
              </a:rPr>
              <a:t>sequences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for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10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epochs.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Then,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tested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6,948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sequences.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results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10" dirty="0">
                <a:latin typeface="Tahoma"/>
                <a:cs typeface="Tahoma"/>
              </a:rPr>
              <a:t> training are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figure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below.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ts val="915"/>
              </a:lnSpc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total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loss,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accuracy,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and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F</a:t>
            </a:r>
            <a:r>
              <a:rPr sz="900" baseline="-9259" dirty="0">
                <a:latin typeface="Tahoma"/>
                <a:cs typeface="Tahoma"/>
              </a:rPr>
              <a:t>1</a:t>
            </a:r>
            <a:r>
              <a:rPr sz="900" spc="165" baseline="-9259" dirty="0">
                <a:latin typeface="Tahoma"/>
                <a:cs typeface="Tahoma"/>
              </a:rPr>
              <a:t> </a:t>
            </a:r>
            <a:r>
              <a:rPr sz="800" b="1" spc="-60" dirty="0">
                <a:latin typeface="Arial"/>
                <a:cs typeface="Arial"/>
              </a:rPr>
              <a:t>score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evaluation metrics </a:t>
            </a:r>
            <a:r>
              <a:rPr sz="800" spc="-10" dirty="0">
                <a:latin typeface="Tahoma"/>
                <a:cs typeface="Tahoma"/>
              </a:rPr>
              <a:t>are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dirty="0">
                <a:latin typeface="Tahoma"/>
                <a:cs typeface="Tahoma"/>
              </a:rPr>
              <a:t> in table.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Note:</a:t>
            </a:r>
            <a:r>
              <a:rPr sz="800" i="1" spc="11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this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is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dataset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index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2</a:t>
            </a:r>
            <a:r>
              <a:rPr sz="800" spc="-25" dirty="0"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791" y="1033322"/>
            <a:ext cx="3914775" cy="143192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5904" y="2620348"/>
          <a:ext cx="1701800" cy="238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Model</a:t>
                      </a:r>
                      <a:r>
                        <a:rPr sz="500" b="1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Name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500" b="1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Loss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Accuracy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0"/>
                        </a:lnSpc>
                        <a:spcBef>
                          <a:spcPts val="15"/>
                        </a:spcBef>
                      </a:pPr>
                      <a:r>
                        <a:rPr sz="750" i="1" baseline="1111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35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35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15" baseline="11111" dirty="0">
                          <a:latin typeface="Arial"/>
                          <a:cs typeface="Arial"/>
                        </a:rPr>
                        <a:t>Score</a:t>
                      </a:r>
                      <a:endParaRPr sz="750" baseline="11111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">
                <a:tc>
                  <a:txBody>
                    <a:bodyPr/>
                    <a:lstStyle/>
                    <a:p>
                      <a:pPr marL="48895">
                        <a:lnSpc>
                          <a:spcPts val="509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Basic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0.7929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52.60%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40.45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Final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0.6263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65.09%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14.97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Results:</a:t>
            </a:r>
            <a:r>
              <a:rPr spc="235" dirty="0"/>
              <a:t> </a:t>
            </a:r>
            <a:r>
              <a:rPr spc="-35" dirty="0"/>
              <a:t>Models</a:t>
            </a:r>
            <a:r>
              <a:rPr spc="85" dirty="0"/>
              <a:t> </a:t>
            </a:r>
            <a:r>
              <a:rPr dirty="0"/>
              <a:t>-</a:t>
            </a:r>
            <a:r>
              <a:rPr spc="80" dirty="0"/>
              <a:t> </a:t>
            </a:r>
            <a:r>
              <a:rPr spc="-10" dirty="0"/>
              <a:t>Human</a:t>
            </a:r>
            <a:r>
              <a:rPr spc="80" dirty="0"/>
              <a:t> </a:t>
            </a:r>
            <a:r>
              <a:rPr spc="-35" dirty="0"/>
              <a:t>Non-</a:t>
            </a:r>
            <a:r>
              <a:rPr spc="70" dirty="0"/>
              <a:t>TATA</a:t>
            </a:r>
            <a:r>
              <a:rPr spc="85" dirty="0"/>
              <a:t> </a:t>
            </a:r>
            <a:r>
              <a:rPr spc="-25" dirty="0"/>
              <a:t>Promoters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01051"/>
            <a:ext cx="5558155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models </a:t>
            </a:r>
            <a:r>
              <a:rPr sz="800" spc="-25" dirty="0">
                <a:latin typeface="Tahoma"/>
                <a:cs typeface="Tahoma"/>
              </a:rPr>
              <a:t>were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trained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</a:t>
            </a:r>
            <a:r>
              <a:rPr sz="800" spc="-10" dirty="0">
                <a:latin typeface="Tahoma"/>
                <a:cs typeface="Tahoma"/>
              </a:rPr>
              <a:t> 27,097 </a:t>
            </a:r>
            <a:r>
              <a:rPr sz="800" spc="-30" dirty="0">
                <a:latin typeface="Tahoma"/>
                <a:cs typeface="Tahoma"/>
              </a:rPr>
              <a:t>sequences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for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10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epochs.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Then,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tested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on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9,034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sequences.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results </a:t>
            </a:r>
            <a:r>
              <a:rPr sz="800" dirty="0">
                <a:latin typeface="Tahoma"/>
                <a:cs typeface="Tahoma"/>
              </a:rPr>
              <a:t>of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the</a:t>
            </a:r>
            <a:r>
              <a:rPr sz="800" spc="-10" dirty="0">
                <a:latin typeface="Tahoma"/>
                <a:cs typeface="Tahoma"/>
              </a:rPr>
              <a:t> training are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figure</a:t>
            </a:r>
            <a:r>
              <a:rPr sz="800" spc="-3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below.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ts val="915"/>
              </a:lnSpc>
            </a:pPr>
            <a:r>
              <a:rPr sz="800" dirty="0">
                <a:latin typeface="Tahoma"/>
                <a:cs typeface="Tahoma"/>
              </a:rPr>
              <a:t>The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b="1" dirty="0">
                <a:latin typeface="Arial"/>
                <a:cs typeface="Arial"/>
              </a:rPr>
              <a:t>total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loss,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accuracy,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and</a:t>
            </a:r>
            <a:r>
              <a:rPr sz="800" b="1" spc="4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F</a:t>
            </a:r>
            <a:r>
              <a:rPr sz="900" baseline="-9259" dirty="0">
                <a:latin typeface="Tahoma"/>
                <a:cs typeface="Tahoma"/>
              </a:rPr>
              <a:t>1</a:t>
            </a:r>
            <a:r>
              <a:rPr sz="900" spc="165" baseline="-9259" dirty="0">
                <a:latin typeface="Tahoma"/>
                <a:cs typeface="Tahoma"/>
              </a:rPr>
              <a:t> </a:t>
            </a:r>
            <a:r>
              <a:rPr sz="800" b="1" spc="-60" dirty="0">
                <a:latin typeface="Arial"/>
                <a:cs typeface="Arial"/>
              </a:rPr>
              <a:t>score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evaluation metrics </a:t>
            </a:r>
            <a:r>
              <a:rPr sz="800" spc="-10" dirty="0">
                <a:latin typeface="Tahoma"/>
                <a:cs typeface="Tahoma"/>
              </a:rPr>
              <a:t>are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shown</a:t>
            </a:r>
            <a:r>
              <a:rPr sz="800" dirty="0">
                <a:latin typeface="Tahoma"/>
                <a:cs typeface="Tahoma"/>
              </a:rPr>
              <a:t> in table.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i="1" dirty="0">
                <a:latin typeface="Arial"/>
                <a:cs typeface="Arial"/>
              </a:rPr>
              <a:t>Note:</a:t>
            </a:r>
            <a:r>
              <a:rPr sz="800" i="1" spc="11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this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is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dataset</a:t>
            </a:r>
            <a:r>
              <a:rPr sz="800" i="1" spc="3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index</a:t>
            </a:r>
            <a:r>
              <a:rPr sz="800" i="1" spc="25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3</a:t>
            </a:r>
            <a:r>
              <a:rPr sz="800" spc="-25" dirty="0"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791" y="1033322"/>
            <a:ext cx="3914775" cy="143192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5904" y="2620348"/>
          <a:ext cx="1701800" cy="238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Model</a:t>
                      </a:r>
                      <a:r>
                        <a:rPr sz="500" b="1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Name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500" b="1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spc="-20" dirty="0">
                          <a:latin typeface="Arial"/>
                          <a:cs typeface="Arial"/>
                        </a:rPr>
                        <a:t>Loss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Accuracy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0"/>
                        </a:lnSpc>
                        <a:spcBef>
                          <a:spcPts val="15"/>
                        </a:spcBef>
                      </a:pPr>
                      <a:r>
                        <a:rPr sz="750" i="1" baseline="1111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35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35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15" baseline="11111" dirty="0">
                          <a:latin typeface="Arial"/>
                          <a:cs typeface="Arial"/>
                        </a:rPr>
                        <a:t>Score</a:t>
                      </a:r>
                      <a:endParaRPr sz="750" baseline="11111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">
                <a:tc>
                  <a:txBody>
                    <a:bodyPr/>
                    <a:lstStyle/>
                    <a:p>
                      <a:pPr marL="48895">
                        <a:lnSpc>
                          <a:spcPts val="509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Basic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0.5817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71.56%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9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23.30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5">
                <a:tc>
                  <a:txBody>
                    <a:bodyPr/>
                    <a:lstStyle/>
                    <a:p>
                      <a:pPr marL="48895">
                        <a:lnSpc>
                          <a:spcPts val="540"/>
                        </a:lnSpc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Final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0.6068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66.36%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500" spc="-10" dirty="0">
                          <a:latin typeface="Tahoma"/>
                          <a:cs typeface="Tahoma"/>
                        </a:rPr>
                        <a:t>20.33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Results:</a:t>
            </a:r>
            <a:r>
              <a:rPr spc="180" dirty="0"/>
              <a:t> </a:t>
            </a:r>
            <a:r>
              <a:rPr spc="-25" dirty="0"/>
              <a:t>Benchmark</a:t>
            </a:r>
            <a:r>
              <a:rPr spc="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947215"/>
            <a:ext cx="5560060" cy="1396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benchmarking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selected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datasets,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showed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difficulties in </a:t>
            </a:r>
            <a:r>
              <a:rPr sz="1100" spc="-30" dirty="0">
                <a:latin typeface="Tahoma"/>
                <a:cs typeface="Tahoma"/>
              </a:rPr>
              <a:t>obtaining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significant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loss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accuracy.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Upon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evaluation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models,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accuracy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appears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classes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random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expected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Arial"/>
                <a:cs typeface="Arial"/>
              </a:rPr>
              <a:t>human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non-</a:t>
            </a:r>
            <a:r>
              <a:rPr sz="1100" i="1" spc="-55" dirty="0">
                <a:latin typeface="Arial"/>
                <a:cs typeface="Arial"/>
              </a:rPr>
              <a:t>TATA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promoters</a:t>
            </a:r>
            <a:r>
              <a:rPr sz="1100" spc="-25" dirty="0">
                <a:latin typeface="Tahoma"/>
                <a:cs typeface="Tahoma"/>
              </a:rPr>
              <a:t>,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dataset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had </a:t>
            </a:r>
            <a:r>
              <a:rPr sz="1100" spc="-40" dirty="0">
                <a:latin typeface="Tahoma"/>
                <a:cs typeface="Tahoma"/>
              </a:rPr>
              <a:t>imbalance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favoring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predicted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class.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scores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evaluation </a:t>
            </a:r>
            <a:r>
              <a:rPr sz="1100" spc="-50" dirty="0">
                <a:latin typeface="Tahoma"/>
                <a:cs typeface="Tahoma"/>
              </a:rPr>
              <a:t>performed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better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baseline </a:t>
            </a:r>
            <a:r>
              <a:rPr sz="1100" spc="-35" dirty="0">
                <a:latin typeface="Tahoma"/>
                <a:cs typeface="Tahoma"/>
              </a:rPr>
              <a:t>model,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additional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global </a:t>
            </a:r>
            <a:r>
              <a:rPr sz="1100" i="1" spc="-80" dirty="0">
                <a:latin typeface="Arial"/>
                <a:cs typeface="Arial"/>
              </a:rPr>
              <a:t>average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pooling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had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added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model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architecture.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 </a:t>
            </a:r>
            <a:r>
              <a:rPr sz="1100" spc="-35" dirty="0">
                <a:latin typeface="Tahoma"/>
                <a:cs typeface="Tahoma"/>
              </a:rPr>
              <a:t>architecture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compiled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i="1" spc="-25" dirty="0">
                <a:latin typeface="Arial"/>
                <a:cs typeface="Arial"/>
              </a:rPr>
              <a:t>Pytorch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should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account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amount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lack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Future</a:t>
            </a:r>
            <a:r>
              <a:rPr spc="5" dirty="0"/>
              <a:t> </a:t>
            </a:r>
            <a:r>
              <a:rPr spc="-60" dirty="0"/>
              <a:t>Improvements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47215"/>
            <a:ext cx="5509260" cy="1396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improvements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beyond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updates </a:t>
            </a:r>
            <a:r>
              <a:rPr sz="1100" spc="-45" dirty="0">
                <a:latin typeface="Tahoma"/>
                <a:cs typeface="Tahoma"/>
              </a:rPr>
              <a:t>required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newer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versions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packages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experiments.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Future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experiments</a:t>
            </a:r>
            <a:r>
              <a:rPr sz="1100" spc="-40" dirty="0">
                <a:latin typeface="Tahoma"/>
                <a:cs typeface="Tahoma"/>
              </a:rPr>
              <a:t> would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benefit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validation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overfitting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during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training.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Moving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activation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CNN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after 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batch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normalization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layer.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Increasing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epochs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iterations.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Using </a:t>
            </a:r>
            <a:r>
              <a:rPr sz="1100" spc="-25" dirty="0">
                <a:latin typeface="Tahoma"/>
                <a:cs typeface="Tahoma"/>
              </a:rPr>
              <a:t>built-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optimizers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allow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control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rates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built-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encoding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 </a:t>
            </a:r>
            <a:r>
              <a:rPr sz="1100" spc="-10" dirty="0">
                <a:latin typeface="Tahoma"/>
                <a:cs typeface="Tahoma"/>
              </a:rPr>
              <a:t>input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layers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understand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models.</a:t>
            </a:r>
            <a:endParaRPr sz="1100">
              <a:latin typeface="Tahoma"/>
              <a:cs typeface="Tahoma"/>
            </a:endParaRPr>
          </a:p>
          <a:p>
            <a:pPr marL="12700" marR="843915">
              <a:lnSpc>
                <a:spcPct val="102600"/>
              </a:lnSpc>
            </a:pPr>
            <a:r>
              <a:rPr sz="1100" spc="-10" dirty="0">
                <a:latin typeface="Tahoma"/>
                <a:cs typeface="Tahoma"/>
              </a:rPr>
              <a:t>Other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improvements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consists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testing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architectures,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using</a:t>
            </a:r>
            <a:r>
              <a:rPr sz="1100" spc="-20" dirty="0">
                <a:latin typeface="Tahoma"/>
                <a:cs typeface="Tahoma"/>
              </a:rPr>
              <a:t> data </a:t>
            </a:r>
            <a:r>
              <a:rPr sz="1100" spc="-35" dirty="0">
                <a:latin typeface="Tahoma"/>
                <a:cs typeface="Tahoma"/>
              </a:rPr>
              <a:t>augmentation, 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handling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sparse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Conclusions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53704"/>
            <a:ext cx="5477510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Although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attempts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reproduce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</a:t>
            </a:r>
            <a:r>
              <a:rPr sz="1100" spc="-35" dirty="0">
                <a:latin typeface="Tahoma"/>
                <a:cs typeface="Tahoma"/>
              </a:rPr>
              <a:t> results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deep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did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produce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expected</a:t>
            </a:r>
            <a:r>
              <a:rPr sz="1100" spc="-35" dirty="0">
                <a:latin typeface="Tahoma"/>
                <a:cs typeface="Tahoma"/>
              </a:rPr>
              <a:t> results,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mainly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implementation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obstacles.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undertaking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project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become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familiar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50" dirty="0">
                <a:latin typeface="Tahoma"/>
                <a:cs typeface="Tahoma"/>
              </a:rPr>
              <a:t>developing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Convolutional </a:t>
            </a:r>
            <a:r>
              <a:rPr sz="1100" spc="-20" dirty="0">
                <a:latin typeface="Tahoma"/>
                <a:cs typeface="Tahoma"/>
              </a:rPr>
              <a:t>Neural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Networks</a:t>
            </a:r>
            <a:r>
              <a:rPr sz="1100" spc="-35" dirty="0">
                <a:latin typeface="Tahoma"/>
                <a:cs typeface="Tahoma"/>
              </a:rPr>
              <a:t> through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updating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working</a:t>
            </a:r>
            <a:r>
              <a:rPr sz="1100" spc="-35" dirty="0">
                <a:latin typeface="Tahoma"/>
                <a:cs typeface="Tahoma"/>
              </a:rPr>
              <a:t> through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proposed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architectures;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excitement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continue </a:t>
            </a:r>
            <a:r>
              <a:rPr sz="1100" spc="-45" dirty="0">
                <a:latin typeface="Tahoma"/>
                <a:cs typeface="Tahoma"/>
              </a:rPr>
              <a:t>exploring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deep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 </a:t>
            </a:r>
            <a:r>
              <a:rPr sz="1100" spc="-35" dirty="0">
                <a:latin typeface="Tahoma"/>
                <a:cs typeface="Tahoma"/>
              </a:rPr>
              <a:t>opportunities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field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genomics.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5" dirty="0"/>
              <a:t>Miscellaneous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346883"/>
            <a:ext cx="5479415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b="1" spc="-20" dirty="0">
                <a:latin typeface="Arial"/>
                <a:cs typeface="Arial"/>
              </a:rPr>
              <a:t>Code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60" dirty="0">
                <a:latin typeface="Arial"/>
                <a:cs typeface="Arial"/>
              </a:rPr>
              <a:t>used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create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report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spc="-30" dirty="0">
                <a:latin typeface="Arial"/>
                <a:cs typeface="Arial"/>
              </a:rPr>
              <a:t>is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in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GitHub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  <a:hlinkClick r:id="rId2" action="ppaction://hlinksldjump"/>
              </a:rPr>
              <a:t>3]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diagrams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use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i="1" spc="-30" dirty="0">
                <a:latin typeface="Calibri"/>
                <a:cs typeface="Calibri"/>
              </a:rPr>
              <a:t>mermaid-</a:t>
            </a:r>
            <a:r>
              <a:rPr sz="1200" i="1" dirty="0">
                <a:latin typeface="Calibri"/>
                <a:cs typeface="Calibri"/>
              </a:rPr>
              <a:t>py</a:t>
            </a:r>
            <a:r>
              <a:rPr sz="1200" i="1" spc="170" dirty="0">
                <a:latin typeface="Calibri"/>
                <a:cs typeface="Calibri"/>
              </a:rPr>
              <a:t> </a:t>
            </a:r>
            <a:r>
              <a:rPr sz="1200" spc="-25" dirty="0">
                <a:latin typeface="Tahoma"/>
                <a:cs typeface="Tahoma"/>
              </a:rPr>
              <a:t>for </a:t>
            </a:r>
            <a:r>
              <a:rPr sz="1200" spc="-20" dirty="0">
                <a:latin typeface="Tahoma"/>
                <a:cs typeface="Tahoma"/>
              </a:rPr>
              <a:t>this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project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145351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Data</a:t>
            </a:r>
            <a:r>
              <a:rPr spc="185" dirty="0"/>
              <a:t> </a:t>
            </a:r>
            <a:r>
              <a:rPr spc="-10" dirty="0"/>
              <a:t>Availability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343505"/>
            <a:ext cx="5507355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dirty="0">
                <a:latin typeface="Tahoma"/>
                <a:cs typeface="Tahoma"/>
              </a:rPr>
              <a:t>All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datasets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are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available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for</a:t>
            </a:r>
            <a:r>
              <a:rPr sz="1200" spc="-20" dirty="0">
                <a:latin typeface="Tahoma"/>
                <a:cs typeface="Tahoma"/>
              </a:rPr>
              <a:t> GitHub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95" dirty="0">
                <a:latin typeface="Tahoma"/>
                <a:cs typeface="Tahoma"/>
                <a:hlinkClick r:id="rId2" action="ppaction://hlinksldjump"/>
              </a:rPr>
              <a:t>[6],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all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code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covered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25" dirty="0">
                <a:latin typeface="Tahoma"/>
                <a:cs typeface="Tahoma"/>
              </a:rPr>
              <a:t> this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article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can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be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found </a:t>
            </a:r>
            <a:r>
              <a:rPr sz="1200" dirty="0">
                <a:latin typeface="Tahoma"/>
                <a:cs typeface="Tahoma"/>
              </a:rPr>
              <a:t>at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114" dirty="0">
                <a:latin typeface="Tahoma"/>
                <a:cs typeface="Tahoma"/>
                <a:hlinkClick r:id="rId3" action="ppaction://hlinksldjump"/>
              </a:rPr>
              <a:t>[3]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or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at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  <a:hlinkClick r:id="rId4"/>
              </a:rPr>
              <a:t>Google</a:t>
            </a:r>
            <a:r>
              <a:rPr sz="1200" spc="-25" dirty="0">
                <a:latin typeface="Tahoma"/>
                <a:cs typeface="Tahoma"/>
                <a:hlinkClick r:id="rId4"/>
              </a:rPr>
              <a:t> </a:t>
            </a:r>
            <a:r>
              <a:rPr sz="1200" spc="-10" dirty="0">
                <a:latin typeface="Tahoma"/>
                <a:cs typeface="Tahoma"/>
                <a:hlinkClick r:id="rId4"/>
              </a:rPr>
              <a:t>Colab.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References</a:t>
            </a:r>
            <a:r>
              <a:rPr spc="35" dirty="0"/>
              <a:t> </a:t>
            </a:r>
            <a:r>
              <a:rPr spc="-50" dirty="0"/>
              <a:t>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63561"/>
            <a:ext cx="5535295" cy="24149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6540" marR="194945" indent="-219075">
              <a:lnSpc>
                <a:spcPct val="102600"/>
              </a:lnSpc>
              <a:spcBef>
                <a:spcPts val="55"/>
              </a:spcBef>
              <a:buFont typeface="Tahoma"/>
              <a:buAutoNum type="arabicPlain"/>
              <a:tabLst>
                <a:tab pos="256540" algn="l"/>
              </a:tabLst>
            </a:pPr>
            <a:r>
              <a:rPr sz="1100" dirty="0">
                <a:latin typeface="Tahoma"/>
                <a:cs typeface="Tahoma"/>
              </a:rPr>
              <a:t>D.</a:t>
            </a:r>
            <a:r>
              <a:rPr sz="1100" spc="-20" dirty="0">
                <a:latin typeface="Tahoma"/>
                <a:cs typeface="Tahoma"/>
              </a:rPr>
              <a:t> Cohn, </a:t>
            </a:r>
            <a:r>
              <a:rPr sz="1100" dirty="0">
                <a:latin typeface="Tahoma"/>
                <a:cs typeface="Tahoma"/>
              </a:rPr>
              <a:t>O.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Zuk,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Kaplan.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Enhancer</a:t>
            </a:r>
            <a:r>
              <a:rPr sz="1100" spc="-20" dirty="0">
                <a:latin typeface="Tahoma"/>
                <a:cs typeface="Tahoma"/>
              </a:rPr>
              <a:t> identification </a:t>
            </a:r>
            <a:r>
              <a:rPr sz="1100" spc="-40" dirty="0">
                <a:latin typeface="Tahoma"/>
                <a:cs typeface="Tahoma"/>
              </a:rPr>
              <a:t>using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transfer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adversarial </a:t>
            </a:r>
            <a:r>
              <a:rPr sz="1100" spc="-60" dirty="0">
                <a:latin typeface="Tahoma"/>
                <a:cs typeface="Tahoma"/>
              </a:rPr>
              <a:t>deep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dna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sequences.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bioRxiv</a:t>
            </a:r>
            <a:r>
              <a:rPr sz="1100" spc="-35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2018.</a:t>
            </a:r>
            <a:endParaRPr sz="1100">
              <a:latin typeface="Tahoma"/>
              <a:cs typeface="Tahoma"/>
            </a:endParaRPr>
          </a:p>
          <a:p>
            <a:pPr marL="256540" marR="30480" indent="-219075">
              <a:lnSpc>
                <a:spcPct val="102600"/>
              </a:lnSpc>
              <a:spcBef>
                <a:spcPts val="310"/>
              </a:spcBef>
              <a:buFont typeface="Tahoma"/>
              <a:buAutoNum type="arabicPlain"/>
              <a:tabLst>
                <a:tab pos="256540" algn="l"/>
              </a:tabLst>
            </a:pPr>
            <a:r>
              <a:rPr sz="1100" dirty="0">
                <a:latin typeface="Tahoma"/>
                <a:cs typeface="Tahoma"/>
              </a:rPr>
              <a:t>K.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</a:t>
            </a:r>
            <a:r>
              <a:rPr sz="1100" spc="-125" dirty="0">
                <a:latin typeface="Tahoma"/>
                <a:cs typeface="Tahoma"/>
              </a:rPr>
              <a:t>e</a:t>
            </a:r>
            <a:r>
              <a:rPr sz="1100" spc="-590" dirty="0">
                <a:latin typeface="Tahoma"/>
                <a:cs typeface="Tahoma"/>
              </a:rPr>
              <a:t>ˇ</a:t>
            </a:r>
            <a:r>
              <a:rPr sz="1100" spc="-50" dirty="0">
                <a:latin typeface="Tahoma"/>
                <a:cs typeface="Tahoma"/>
              </a:rPr>
              <a:t>so</a:t>
            </a:r>
            <a:r>
              <a:rPr sz="1100" spc="-65" dirty="0">
                <a:latin typeface="Tahoma"/>
                <a:cs typeface="Tahoma"/>
              </a:rPr>
              <a:t>v</a:t>
            </a:r>
            <a:r>
              <a:rPr sz="1100" spc="-650" dirty="0">
                <a:latin typeface="Tahoma"/>
                <a:cs typeface="Tahoma"/>
              </a:rPr>
              <a:t>´</a:t>
            </a:r>
            <a:r>
              <a:rPr sz="1100" spc="-50" dirty="0">
                <a:latin typeface="Tahoma"/>
                <a:cs typeface="Tahoma"/>
              </a:rPr>
              <a:t>a,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V.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Martinek,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D.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45" dirty="0">
                <a:latin typeface="Tahoma"/>
                <a:cs typeface="Tahoma"/>
              </a:rPr>
              <a:t>C</a:t>
            </a:r>
            <a:r>
              <a:rPr sz="1650" spc="44" baseline="12626" dirty="0">
                <a:latin typeface="Tahoma"/>
                <a:cs typeface="Tahoma"/>
              </a:rPr>
              <a:t>ˇ</a:t>
            </a:r>
            <a:r>
              <a:rPr sz="1100" spc="-45" dirty="0">
                <a:latin typeface="Tahoma"/>
                <a:cs typeface="Tahoma"/>
              </a:rPr>
              <a:t>ec</a:t>
            </a:r>
            <a:r>
              <a:rPr sz="1100" spc="-65" dirty="0">
                <a:latin typeface="Tahoma"/>
                <a:cs typeface="Tahoma"/>
              </a:rPr>
              <a:t>h</a:t>
            </a:r>
            <a:r>
              <a:rPr sz="1100" spc="-640" dirty="0">
                <a:latin typeface="Tahoma"/>
                <a:cs typeface="Tahoma"/>
              </a:rPr>
              <a:t>´</a:t>
            </a:r>
            <a:r>
              <a:rPr sz="1100" spc="-45" dirty="0">
                <a:latin typeface="Tahoma"/>
                <a:cs typeface="Tahoma"/>
              </a:rPr>
              <a:t>ak,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P.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40" dirty="0">
                <a:latin typeface="Tahoma"/>
                <a:cs typeface="Tahoma"/>
              </a:rPr>
              <a:t>S</a:t>
            </a:r>
            <a:r>
              <a:rPr sz="1650" spc="-22" baseline="12626" dirty="0">
                <a:latin typeface="Tahoma"/>
                <a:cs typeface="Tahoma"/>
              </a:rPr>
              <a:t>ˇ</a:t>
            </a:r>
            <a:r>
              <a:rPr sz="1100" spc="-45" dirty="0">
                <a:latin typeface="Tahoma"/>
                <a:cs typeface="Tahoma"/>
              </a:rPr>
              <a:t>im</a:t>
            </a:r>
            <a:r>
              <a:rPr sz="1100" spc="-85" dirty="0">
                <a:latin typeface="Tahoma"/>
                <a:cs typeface="Tahoma"/>
              </a:rPr>
              <a:t>e</a:t>
            </a:r>
            <a:r>
              <a:rPr sz="1100" spc="-620" dirty="0">
                <a:latin typeface="Tahoma"/>
                <a:cs typeface="Tahoma"/>
              </a:rPr>
              <a:t>ˇ</a:t>
            </a:r>
            <a:r>
              <a:rPr sz="1100" spc="-45" dirty="0">
                <a:latin typeface="Tahoma"/>
                <a:cs typeface="Tahoma"/>
              </a:rPr>
              <a:t>cek,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P.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Alexiou.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Genomic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benchmarks: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25" dirty="0">
                <a:latin typeface="Tahoma"/>
                <a:cs typeface="Tahoma"/>
              </a:rPr>
              <a:t>collection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datasets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genomic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classification.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BMC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60" dirty="0">
                <a:latin typeface="Arial"/>
                <a:cs typeface="Arial"/>
              </a:rPr>
              <a:t>Genomic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Data</a:t>
            </a:r>
            <a:r>
              <a:rPr sz="1100" spc="-2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24(1):25, 2023.</a:t>
            </a:r>
            <a:endParaRPr sz="1100">
              <a:latin typeface="Tahoma"/>
              <a:cs typeface="Tahoma"/>
            </a:endParaRPr>
          </a:p>
          <a:p>
            <a:pPr marL="257175" indent="-219075">
              <a:lnSpc>
                <a:spcPct val="100000"/>
              </a:lnSpc>
              <a:spcBef>
                <a:spcPts val="350"/>
              </a:spcBef>
              <a:buFont typeface="Tahoma"/>
              <a:buAutoNum type="arabicPlain"/>
              <a:tabLst>
                <a:tab pos="257175" algn="l"/>
              </a:tabLst>
            </a:pPr>
            <a:r>
              <a:rPr sz="1100" spc="-35" dirty="0">
                <a:latin typeface="Tahoma"/>
                <a:cs typeface="Tahoma"/>
              </a:rPr>
              <a:t>jmwinemiller.</a:t>
            </a:r>
            <a:r>
              <a:rPr sz="1100" spc="15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cap-</a:t>
            </a:r>
            <a:r>
              <a:rPr sz="1100" spc="-60" dirty="0">
                <a:latin typeface="Tahoma"/>
                <a:cs typeface="Tahoma"/>
              </a:rPr>
              <a:t>6619-</a:t>
            </a:r>
            <a:r>
              <a:rPr sz="1100" spc="-10" dirty="0">
                <a:latin typeface="Tahoma"/>
                <a:cs typeface="Tahoma"/>
              </a:rPr>
              <a:t>project.</a:t>
            </a:r>
            <a:endParaRPr sz="1100">
              <a:latin typeface="Tahoma"/>
              <a:cs typeface="Tahoma"/>
            </a:endParaRPr>
          </a:p>
          <a:p>
            <a:pPr marL="256540">
              <a:lnSpc>
                <a:spcPct val="100000"/>
              </a:lnSpc>
              <a:spcBef>
                <a:spcPts val="35"/>
              </a:spcBef>
            </a:pPr>
            <a:r>
              <a:rPr sz="1100" spc="55" dirty="0">
                <a:latin typeface="Cambria"/>
                <a:cs typeface="Cambria"/>
                <a:hlinkClick r:id="rId2"/>
              </a:rPr>
              <a:t>https://github.com/jmwinemiller/cap-</a:t>
            </a:r>
            <a:r>
              <a:rPr sz="1100" dirty="0">
                <a:latin typeface="Cambria"/>
                <a:cs typeface="Cambria"/>
                <a:hlinkClick r:id="rId2"/>
              </a:rPr>
              <a:t>6619-</a:t>
            </a:r>
            <a:r>
              <a:rPr sz="1100" spc="75" dirty="0">
                <a:latin typeface="Cambria"/>
                <a:cs typeface="Cambria"/>
                <a:hlinkClick r:id="rId2"/>
              </a:rPr>
              <a:t>project</a:t>
            </a:r>
            <a:r>
              <a:rPr sz="1100" spc="75" dirty="0">
                <a:latin typeface="Tahoma"/>
                <a:cs typeface="Tahoma"/>
              </a:rPr>
              <a:t>,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2026.</a:t>
            </a:r>
            <a:endParaRPr sz="1100">
              <a:latin typeface="Tahoma"/>
              <a:cs typeface="Tahoma"/>
            </a:endParaRPr>
          </a:p>
          <a:p>
            <a:pPr marL="256540" marR="294640" indent="-219075">
              <a:lnSpc>
                <a:spcPct val="102600"/>
              </a:lnSpc>
              <a:spcBef>
                <a:spcPts val="310"/>
              </a:spcBef>
              <a:buFont typeface="Tahoma"/>
              <a:buAutoNum type="arabicPlain" startAt="4"/>
              <a:tabLst>
                <a:tab pos="256540" algn="l"/>
              </a:tabLst>
            </a:pPr>
            <a:r>
              <a:rPr sz="1100" dirty="0">
                <a:latin typeface="Tahoma"/>
                <a:cs typeface="Tahoma"/>
              </a:rPr>
              <a:t>S.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100" dirty="0">
                <a:latin typeface="Tahoma"/>
                <a:cs typeface="Tahoma"/>
              </a:rPr>
              <a:t>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S.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Nair.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Dnacoder: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cnn-</a:t>
            </a:r>
            <a:r>
              <a:rPr sz="1100" dirty="0">
                <a:latin typeface="Tahoma"/>
                <a:cs typeface="Tahoma"/>
              </a:rPr>
              <a:t>lstm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attention-</a:t>
            </a:r>
            <a:r>
              <a:rPr sz="1100" spc="-40" dirty="0">
                <a:latin typeface="Tahoma"/>
                <a:cs typeface="Tahoma"/>
              </a:rPr>
              <a:t>based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10" dirty="0">
                <a:latin typeface="Tahoma"/>
                <a:cs typeface="Tahoma"/>
              </a:rPr>
              <a:t>genomic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compression.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Neural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Computing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and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Applications</a:t>
            </a:r>
            <a:r>
              <a:rPr sz="1100" spc="-35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36:18363–</a:t>
            </a:r>
            <a:r>
              <a:rPr sz="1100" spc="-55" dirty="0">
                <a:latin typeface="Tahoma"/>
                <a:cs typeface="Tahoma"/>
              </a:rPr>
              <a:t>18376,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07 </a:t>
            </a:r>
            <a:r>
              <a:rPr sz="1100" spc="-10" dirty="0">
                <a:latin typeface="Tahoma"/>
                <a:cs typeface="Tahoma"/>
              </a:rPr>
              <a:t>2024.</a:t>
            </a:r>
            <a:endParaRPr sz="1100">
              <a:latin typeface="Tahoma"/>
              <a:cs typeface="Tahoma"/>
            </a:endParaRPr>
          </a:p>
          <a:p>
            <a:pPr marL="257175" indent="-219075">
              <a:lnSpc>
                <a:spcPct val="100000"/>
              </a:lnSpc>
              <a:spcBef>
                <a:spcPts val="345"/>
              </a:spcBef>
              <a:buFont typeface="Tahoma"/>
              <a:buAutoNum type="arabicPlain" startAt="4"/>
              <a:tabLst>
                <a:tab pos="257175" algn="l"/>
              </a:tabLst>
            </a:pPr>
            <a:r>
              <a:rPr sz="1100" dirty="0">
                <a:latin typeface="Tahoma"/>
                <a:cs typeface="Tahoma"/>
              </a:rPr>
              <a:t>E.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Kvon,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T.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Kazmar,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G.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Stampfel,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J.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Y</a:t>
            </a:r>
            <a:r>
              <a:rPr sz="1100" spc="-625" dirty="0">
                <a:latin typeface="Tahoma"/>
                <a:cs typeface="Tahoma"/>
              </a:rPr>
              <a:t>´</a:t>
            </a:r>
            <a:r>
              <a:rPr sz="1100" spc="-25" dirty="0">
                <a:latin typeface="Tahoma"/>
                <a:cs typeface="Tahoma"/>
              </a:rPr>
              <a:t>a</a:t>
            </a:r>
            <a:r>
              <a:rPr sz="1100" spc="-635" dirty="0">
                <a:latin typeface="Tahoma"/>
                <a:cs typeface="Tahoma"/>
              </a:rPr>
              <a:t>n</a:t>
            </a:r>
            <a:r>
              <a:rPr sz="1100" spc="-20" dirty="0">
                <a:latin typeface="Tahoma"/>
                <a:cs typeface="Tahoma"/>
              </a:rPr>
              <a:t>˜</a:t>
            </a:r>
            <a:r>
              <a:rPr sz="1100" spc="-25" dirty="0">
                <a:latin typeface="Tahoma"/>
                <a:cs typeface="Tahoma"/>
              </a:rPr>
              <a:t>ez-Cuna,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M.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Pagani,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K.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Schernhuber,</a:t>
            </a:r>
            <a:endParaRPr sz="1100">
              <a:latin typeface="Tahoma"/>
              <a:cs typeface="Tahoma"/>
            </a:endParaRPr>
          </a:p>
          <a:p>
            <a:pPr marL="256540" marR="556895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B.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Dickson,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A.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Stark.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Genome-</a:t>
            </a:r>
            <a:r>
              <a:rPr sz="1100" spc="-35" dirty="0">
                <a:latin typeface="Tahoma"/>
                <a:cs typeface="Tahoma"/>
              </a:rPr>
              <a:t>scale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characterization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drosophila </a:t>
            </a:r>
            <a:r>
              <a:rPr sz="1100" spc="-50" dirty="0">
                <a:latin typeface="Tahoma"/>
                <a:cs typeface="Tahoma"/>
              </a:rPr>
              <a:t>developmental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enhancers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vivo.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Nature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512,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06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2014.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References</a:t>
            </a:r>
            <a:r>
              <a:rPr spc="35" dirty="0"/>
              <a:t> </a:t>
            </a:r>
            <a:r>
              <a:rPr spc="-25" dirty="0"/>
              <a:t>II</a:t>
            </a:r>
          </a:p>
        </p:txBody>
      </p:sp>
      <p:sp>
        <p:nvSpPr>
          <p:cNvPr id="3" name="object 3"/>
          <p:cNvSpPr/>
          <p:nvPr/>
        </p:nvSpPr>
        <p:spPr>
          <a:xfrm>
            <a:off x="2116747" y="1197622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90"/>
              </a:spcBef>
              <a:buFont typeface="Tahoma"/>
              <a:buAutoNum type="arabicPlain" startAt="6"/>
              <a:tabLst>
                <a:tab pos="231775" algn="l"/>
              </a:tabLst>
            </a:pPr>
            <a:r>
              <a:rPr dirty="0"/>
              <a:t>ML-Bioinfo-CEITEC.</a:t>
            </a:r>
            <a:r>
              <a:rPr spc="180" dirty="0"/>
              <a:t> </a:t>
            </a:r>
            <a:r>
              <a:rPr spc="-50" dirty="0"/>
              <a:t>genomic</a:t>
            </a:r>
            <a:r>
              <a:rPr spc="75" dirty="0"/>
              <a:t> </a:t>
            </a:r>
            <a:r>
              <a:rPr spc="-10" dirty="0"/>
              <a:t>benchmarks.</a:t>
            </a:r>
          </a:p>
          <a:p>
            <a:pPr marL="231140">
              <a:lnSpc>
                <a:spcPct val="100000"/>
              </a:lnSpc>
              <a:spcBef>
                <a:spcPts val="35"/>
              </a:spcBef>
            </a:pPr>
            <a:r>
              <a:rPr spc="50" dirty="0">
                <a:latin typeface="Cambria"/>
                <a:cs typeface="Cambria"/>
                <a:hlinkClick r:id="rId2"/>
              </a:rPr>
              <a:t>https://github.com/ML-</a:t>
            </a:r>
            <a:r>
              <a:rPr spc="100" dirty="0">
                <a:latin typeface="Cambria"/>
                <a:cs typeface="Cambria"/>
                <a:hlinkClick r:id="rId2"/>
              </a:rPr>
              <a:t>Bioinfo-</a:t>
            </a:r>
            <a:r>
              <a:rPr dirty="0">
                <a:latin typeface="Cambria"/>
                <a:cs typeface="Cambria"/>
                <a:hlinkClick r:id="rId2"/>
              </a:rPr>
              <a:t>CEITEC/genomic_benchmarks</a:t>
            </a:r>
            <a:r>
              <a:rPr dirty="0"/>
              <a:t>,</a:t>
            </a:r>
            <a:r>
              <a:rPr spc="110" dirty="0"/>
              <a:t> </a:t>
            </a:r>
            <a:r>
              <a:rPr spc="-10" dirty="0"/>
              <a:t>2025.</a:t>
            </a:r>
          </a:p>
          <a:p>
            <a:pPr marL="231140" marR="104139" indent="-219075">
              <a:lnSpc>
                <a:spcPct val="102600"/>
              </a:lnSpc>
              <a:spcBef>
                <a:spcPts val="390"/>
              </a:spcBef>
              <a:buFont typeface="Tahoma"/>
              <a:buAutoNum type="arabicPlain" startAt="7"/>
              <a:tabLst>
                <a:tab pos="231140" algn="l"/>
              </a:tabLst>
            </a:pPr>
            <a:r>
              <a:rPr dirty="0"/>
              <a:t>R.</a:t>
            </a:r>
            <a:r>
              <a:rPr spc="-25" dirty="0"/>
              <a:t> </a:t>
            </a:r>
            <a:r>
              <a:rPr spc="-35" dirty="0"/>
              <a:t>Umarov</a:t>
            </a:r>
            <a:r>
              <a:rPr spc="-25" dirty="0"/>
              <a:t> </a:t>
            </a:r>
            <a:r>
              <a:rPr spc="-35" dirty="0"/>
              <a:t>and</a:t>
            </a:r>
            <a:r>
              <a:rPr spc="-20" dirty="0"/>
              <a:t> </a:t>
            </a:r>
            <a:r>
              <a:rPr dirty="0"/>
              <a:t>V.</a:t>
            </a:r>
            <a:r>
              <a:rPr spc="-20" dirty="0"/>
              <a:t> </a:t>
            </a:r>
            <a:r>
              <a:rPr spc="-35" dirty="0"/>
              <a:t>Solovyev.</a:t>
            </a:r>
            <a:r>
              <a:rPr spc="85" dirty="0"/>
              <a:t> </a:t>
            </a:r>
            <a:r>
              <a:rPr spc="-30" dirty="0"/>
              <a:t>Recognition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40" dirty="0"/>
              <a:t>prokaryotic</a:t>
            </a:r>
            <a:r>
              <a:rPr spc="-20" dirty="0"/>
              <a:t> </a:t>
            </a:r>
            <a:r>
              <a:rPr spc="-35" dirty="0"/>
              <a:t>and</a:t>
            </a:r>
            <a:r>
              <a:rPr spc="-20" dirty="0"/>
              <a:t> </a:t>
            </a:r>
            <a:r>
              <a:rPr spc="-40" dirty="0"/>
              <a:t>eukaryotic</a:t>
            </a:r>
            <a:r>
              <a:rPr spc="-20" dirty="0"/>
              <a:t> </a:t>
            </a:r>
            <a:r>
              <a:rPr spc="-50" dirty="0"/>
              <a:t>promoters</a:t>
            </a:r>
            <a:r>
              <a:rPr spc="-20" dirty="0"/>
              <a:t> </a:t>
            </a:r>
            <a:r>
              <a:rPr spc="-30" dirty="0"/>
              <a:t>using convolutional</a:t>
            </a:r>
            <a:r>
              <a:rPr spc="-55" dirty="0"/>
              <a:t> </a:t>
            </a:r>
            <a:r>
              <a:rPr spc="-60" dirty="0"/>
              <a:t>deep</a:t>
            </a:r>
            <a:r>
              <a:rPr spc="-25" dirty="0"/>
              <a:t> </a:t>
            </a:r>
            <a:r>
              <a:rPr spc="-40" dirty="0"/>
              <a:t>learning</a:t>
            </a:r>
            <a:r>
              <a:rPr spc="-45" dirty="0"/>
              <a:t> </a:t>
            </a:r>
            <a:r>
              <a:rPr spc="-35" dirty="0"/>
              <a:t>neural</a:t>
            </a:r>
            <a:r>
              <a:rPr spc="-40" dirty="0"/>
              <a:t> </a:t>
            </a:r>
            <a:r>
              <a:rPr spc="-45" dirty="0"/>
              <a:t>networks.</a:t>
            </a:r>
            <a:r>
              <a:rPr spc="65" dirty="0"/>
              <a:t> </a:t>
            </a:r>
            <a:r>
              <a:rPr i="1" spc="-45" dirty="0">
                <a:latin typeface="Arial"/>
                <a:cs typeface="Arial"/>
              </a:rPr>
              <a:t>PLOS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spc="-40" dirty="0">
                <a:latin typeface="Arial"/>
                <a:cs typeface="Arial"/>
              </a:rPr>
              <a:t>ONE</a:t>
            </a:r>
            <a:r>
              <a:rPr spc="-40" dirty="0"/>
              <a:t>, </a:t>
            </a:r>
            <a:r>
              <a:rPr spc="-25" dirty="0"/>
              <a:t>12,</a:t>
            </a:r>
            <a:r>
              <a:rPr spc="-35" dirty="0"/>
              <a:t> </a:t>
            </a:r>
            <a:r>
              <a:rPr spc="-20" dirty="0"/>
              <a:t>02</a:t>
            </a:r>
            <a:r>
              <a:rPr spc="-40" dirty="0"/>
              <a:t> </a:t>
            </a:r>
            <a:r>
              <a:rPr spc="-10" dirty="0"/>
              <a:t>2017.</a:t>
            </a:r>
          </a:p>
          <a:p>
            <a:pPr marL="231140" marR="5080" indent="-219075">
              <a:lnSpc>
                <a:spcPct val="102600"/>
              </a:lnSpc>
              <a:spcBef>
                <a:spcPts val="395"/>
              </a:spcBef>
              <a:buFont typeface="Tahoma"/>
              <a:buAutoNum type="arabicPlain" startAt="7"/>
              <a:tabLst>
                <a:tab pos="231140" algn="l"/>
              </a:tabLst>
            </a:pPr>
            <a:r>
              <a:rPr spc="-10" dirty="0"/>
              <a:t>Y.-</a:t>
            </a:r>
            <a:r>
              <a:rPr dirty="0"/>
              <a:t>z.</a:t>
            </a:r>
            <a:r>
              <a:rPr spc="-70" dirty="0"/>
              <a:t> </a:t>
            </a:r>
            <a:r>
              <a:rPr spc="-20" dirty="0"/>
              <a:t>Zhang</a:t>
            </a:r>
            <a:r>
              <a:rPr spc="-40" dirty="0"/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dirty="0"/>
              <a:t>S.</a:t>
            </a:r>
            <a:r>
              <a:rPr spc="-35" dirty="0"/>
              <a:t> </a:t>
            </a:r>
            <a:r>
              <a:rPr spc="-20" dirty="0"/>
              <a:t>Imoto.</a:t>
            </a:r>
            <a:r>
              <a:rPr spc="60" dirty="0"/>
              <a:t> </a:t>
            </a:r>
            <a:r>
              <a:rPr spc="-60" dirty="0"/>
              <a:t>Genome</a:t>
            </a:r>
            <a:r>
              <a:rPr spc="-25" dirty="0"/>
              <a:t> </a:t>
            </a:r>
            <a:r>
              <a:rPr spc="-35" dirty="0"/>
              <a:t>analysis</a:t>
            </a:r>
            <a:r>
              <a:rPr spc="-45" dirty="0"/>
              <a:t> </a:t>
            </a:r>
            <a:r>
              <a:rPr spc="-35" dirty="0"/>
              <a:t>through</a:t>
            </a:r>
            <a:r>
              <a:rPr spc="-40" dirty="0"/>
              <a:t> image </a:t>
            </a:r>
            <a:r>
              <a:rPr spc="-50" dirty="0"/>
              <a:t>processing</a:t>
            </a:r>
            <a:r>
              <a:rPr spc="-3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spc="-60" dirty="0"/>
              <a:t>deep</a:t>
            </a:r>
            <a:r>
              <a:rPr spc="-25" dirty="0"/>
              <a:t> </a:t>
            </a:r>
            <a:r>
              <a:rPr spc="-35" dirty="0"/>
              <a:t>learning </a:t>
            </a:r>
            <a:r>
              <a:rPr spc="-30" dirty="0"/>
              <a:t>models.</a:t>
            </a:r>
            <a:r>
              <a:rPr spc="25" dirty="0"/>
              <a:t> </a:t>
            </a:r>
            <a:r>
              <a:rPr i="1" spc="-30" dirty="0">
                <a:latin typeface="Arial"/>
                <a:cs typeface="Arial"/>
              </a:rPr>
              <a:t>Journal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spc="-40" dirty="0">
                <a:latin typeface="Arial"/>
                <a:cs typeface="Arial"/>
              </a:rPr>
              <a:t>Human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spc="-70" dirty="0">
                <a:latin typeface="Arial"/>
                <a:cs typeface="Arial"/>
              </a:rPr>
              <a:t>Genetics</a:t>
            </a:r>
            <a:r>
              <a:rPr spc="-70" dirty="0"/>
              <a:t>,</a:t>
            </a:r>
            <a:r>
              <a:rPr spc="-15" dirty="0"/>
              <a:t> </a:t>
            </a:r>
            <a:r>
              <a:rPr spc="-25" dirty="0"/>
              <a:t>69,</a:t>
            </a:r>
            <a:r>
              <a:rPr spc="-45" dirty="0"/>
              <a:t> </a:t>
            </a:r>
            <a:r>
              <a:rPr spc="-20" dirty="0"/>
              <a:t>07</a:t>
            </a:r>
            <a:r>
              <a:rPr spc="-50" dirty="0"/>
              <a:t> </a:t>
            </a:r>
            <a:r>
              <a:rPr spc="-10" dirty="0"/>
              <a:t>2024.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4032</Words>
  <Application>Microsoft Macintosh PowerPoint</Application>
  <PresentationFormat>Custom</PresentationFormat>
  <Paragraphs>308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Meiryo UI</vt:lpstr>
      <vt:lpstr>Arial</vt:lpstr>
      <vt:lpstr>Calibri</vt:lpstr>
      <vt:lpstr>Cambria</vt:lpstr>
      <vt:lpstr>Tahoma</vt:lpstr>
      <vt:lpstr>Verdana</vt:lpstr>
      <vt:lpstr>Office Theme</vt:lpstr>
      <vt:lpstr>PowerPoint Presentation</vt:lpstr>
      <vt:lpstr>Abstract</vt:lpstr>
      <vt:lpstr>Introduction</vt:lpstr>
      <vt:lpstr>Target Audience</vt:lpstr>
      <vt:lpstr>Background</vt:lpstr>
      <vt:lpstr>Datasets</vt:lpstr>
      <vt:lpstr>Datasets</vt:lpstr>
      <vt:lpstr>Selected Datasets</vt:lpstr>
      <vt:lpstr>Statistical Methods</vt:lpstr>
      <vt:lpstr>Statistical Methods: Calculations</vt:lpstr>
      <vt:lpstr>Model Architecture</vt:lpstr>
      <vt:lpstr>Model Architecture</vt:lpstr>
      <vt:lpstr>Model Architecture: Activation Functions</vt:lpstr>
      <vt:lpstr>Model Architecture - Basic</vt:lpstr>
      <vt:lpstr>Model Architecture - Final</vt:lpstr>
      <vt:lpstr>Implementation</vt:lpstr>
      <vt:lpstr>Impl: Dependencies</vt:lpstr>
      <vt:lpstr>Impl: Dataset Download</vt:lpstr>
      <vt:lpstr>Impl: Transforming the Data</vt:lpstr>
      <vt:lpstr>Impl: Metrics</vt:lpstr>
      <vt:lpstr>Complications</vt:lpstr>
      <vt:lpstr>Complications Cont.</vt:lpstr>
      <vt:lpstr>Mitigation Attempts</vt:lpstr>
      <vt:lpstr>Mitigation Attempts Cont.</vt:lpstr>
      <vt:lpstr>Mitigation Attempts Cont.</vt:lpstr>
      <vt:lpstr>Results: Utility Code</vt:lpstr>
      <vt:lpstr>Results: Models</vt:lpstr>
      <vt:lpstr>Results: Models - Dummy Mouse Enhancers Enseml</vt:lpstr>
      <vt:lpstr>Results: Models - Drosophila Enhancers Stark</vt:lpstr>
      <vt:lpstr>Results: Models - Human Enhancers Cohn</vt:lpstr>
      <vt:lpstr>Results: Models - Human Non-TATA Promoters</vt:lpstr>
      <vt:lpstr>Results: Benchmark Analysis</vt:lpstr>
      <vt:lpstr>Future Improvements</vt:lpstr>
      <vt:lpstr>Conclusions</vt:lpstr>
      <vt:lpstr>Miscellaneous</vt:lpstr>
      <vt:lpstr>Data Availability</vt:lpstr>
      <vt:lpstr>References I</vt:lpstr>
      <vt:lpstr>References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in Genomic Sequence Benchmarking - Implementing CNNs with a Focus in Reproducibility</dc:title>
  <dc:creator> Jordan Winemiller </dc:creator>
  <cp:lastModifiedBy>Jordan Winemiller</cp:lastModifiedBy>
  <cp:revision>1</cp:revision>
  <dcterms:created xsi:type="dcterms:W3CDTF">2026-02-09T03:35:39Z</dcterms:created>
  <dcterms:modified xsi:type="dcterms:W3CDTF">2026-02-09T03:45:59Z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2026-02-09T00:00:00Z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